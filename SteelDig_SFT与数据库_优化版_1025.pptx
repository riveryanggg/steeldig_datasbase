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sldIdLst>
    <p:sldId id="256" r:id="rId4"/>
    <p:sldId id="278" r:id="rId5"/>
    <p:sldId id="292" r:id="rId6"/>
    <p:sldId id="293" r:id="rId7"/>
    <p:sldId id="279" r:id="rId8"/>
    <p:sldId id="280" r:id="rId9"/>
    <p:sldId id="281" r:id="rId10"/>
    <p:sldId id="282" r:id="rId11"/>
    <p:sldId id="283" r:id="rId12"/>
    <p:sldId id="294" r:id="rId13"/>
    <p:sldId id="295" r:id="rId14"/>
    <p:sldId id="284" r:id="rId15"/>
    <p:sldId id="285" r:id="rId16"/>
    <p:sldId id="286" r:id="rId17"/>
    <p:sldId id="287" r:id="rId18"/>
    <p:sldId id="288" r:id="rId19"/>
    <p:sldId id="289" r:id="rId20"/>
    <p:sldId id="291" r:id="rId21"/>
    <p:sldId id="257" r:id="rId22"/>
    <p:sldId id="258" r:id="rId23"/>
    <p:sldId id="296" r:id="rId24"/>
    <p:sldId id="259" r:id="rId25"/>
    <p:sldId id="297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微软雅黑" panose="020B0604020202090204"/>
        <a:ea typeface="微软雅黑" panose="020B0604020202090204"/>
        <a:cs typeface="微软雅黑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7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7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保留 QA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468C8"/>
              </a:solidFill>
              <a:ln w="9525" cap="flat" cmpd="sng" algn="ctr">
                <a:noFill/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148F91"/>
              </a:solidFill>
              <a:ln w="9525" cap="flat" cmpd="sng" algn="ctr">
                <a:noFill/>
                <a:prstDash val="solid"/>
                <a:round/>
              </a:ln>
            </c:spPr>
          </c:dPt>
          <c:dPt>
            <c:idx val="2"/>
            <c:invertIfNegative val="0"/>
            <c:bubble3D val="0"/>
            <c:spPr>
              <a:solidFill>
                <a:srgbClr val="C28B32"/>
              </a:solidFill>
              <a:ln w="9525" cap="flat" cmpd="sng" algn="ctr">
                <a:noFill/>
                <a:prstDash val="solid"/>
                <a:round/>
              </a:ln>
            </c:spPr>
          </c:dPt>
          <c:dPt>
            <c:idx val="3"/>
            <c:invertIfNegative val="0"/>
            <c:bubble3D val="0"/>
            <c:spPr>
              <a:solidFill>
                <a:srgbClr val="2468C8"/>
              </a:solidFill>
              <a:ln w="9525" cap="flat" cmpd="sng" algn="ctr">
                <a:noFill/>
                <a:prstDash val="solid"/>
                <a:round/>
              </a:ln>
            </c:spPr>
          </c:dPt>
          <c:dPt>
            <c:idx val="4"/>
            <c:invertIfNegative val="0"/>
            <c:bubble3D val="0"/>
            <c:spPr>
              <a:solidFill>
                <a:srgbClr val="148F91"/>
              </a:solidFill>
              <a:ln w="9525" cap="flat" cmpd="sng" algn="ctr">
                <a:noFill/>
                <a:prstDash val="solid"/>
                <a:round/>
              </a:ln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微软雅黑" panose="020B0604020202090204"/>
                    <a:ea typeface="微软雅黑" panose="020B0604020202090204"/>
                    <a:cs typeface="微软雅黑" panose="020B06040202020902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证据推断</c:v>
                </c:pt>
                <c:pt idx="1">
                  <c:v>公式机制</c:v>
                </c:pt>
                <c:pt idx="2">
                  <c:v>机制解释</c:v>
                </c:pt>
                <c:pt idx="3">
                  <c:v>关系短答</c:v>
                </c:pt>
                <c:pt idx="4">
                  <c:v>跨样本对比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21</c:v>
                </c:pt>
                <c:pt idx="2">
                  <c:v>16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4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3d53f7d-3455-431c-b2dc-a9536756d5d3}"/>
      </c:ext>
    </c:extLst>
  </c:chart>
  <c:txPr>
    <a:bodyPr/>
    <a:lstStyle/>
    <a:p>
      <a:pPr>
        <a:defRPr lang="zh-CN" sz="1800">
          <a:latin typeface="微软雅黑" panose="020B0604020202090204"/>
          <a:ea typeface="微软雅黑" panose="020B0604020202090204"/>
          <a:cs typeface="微软雅黑" panose="020B0604020202090204"/>
        </a:defRPr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latin typeface="微软雅黑" panose="020B0604020202090204"/>
                <a:ea typeface="微软雅黑" panose="020B0604020202090204"/>
                <a:cs typeface="微软雅黑" panose="020B0604020202090204"/>
              </a:rPr>
            </a:fld>
            <a:endParaRPr lang="zh-CN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604020202090204"/>
          <a:ea typeface="微软雅黑" panose="020B0604020202090204"/>
          <a:cs typeface="微软雅黑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52"/>
            <a:ext cx="12192000" cy="684929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TextBox 2"/>
          <p:cNvSpPr txBox="1"/>
          <p:nvPr/>
        </p:nvSpPr>
        <p:spPr>
          <a:xfrm>
            <a:off x="2011680" y="3154680"/>
            <a:ext cx="8183879" cy="4419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lang="en-US" sz="25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SFT</a:t>
            </a:r>
            <a:r>
              <a:rPr lang="zh-CN" altLang="en-US" sz="25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及</a:t>
            </a:r>
            <a:r>
              <a:rPr sz="25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数据库架构与应用进展</a:t>
            </a:r>
            <a:endParaRPr sz="25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81728" y="4681728"/>
            <a:ext cx="2834640" cy="420624"/>
          </a:xfrm>
          <a:prstGeom prst="roundRect">
            <a:avLst>
              <a:gd name="adj" fmla="val 8000"/>
            </a:avLst>
          </a:prstGeom>
          <a:solidFill>
            <a:srgbClr val="315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709160" y="4736592"/>
            <a:ext cx="2779776" cy="3708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2026年10月2</a:t>
            </a:r>
            <a:r>
              <a:rPr lang="en-US" sz="2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</a:t>
            </a:r>
            <a:r>
              <a:rPr sz="2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日</a:t>
            </a:r>
            <a:endParaRPr sz="21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4819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课题三进展汇报</a:t>
            </a:r>
            <a:r>
              <a:rPr 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：SFT</a:t>
            </a:r>
            <a:r>
              <a:rPr lang="zh-CN" alt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</a:t>
            </a:r>
            <a:r>
              <a:rPr lang="zh-CN" alt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建设</a:t>
            </a:r>
            <a:endParaRPr lang="zh-CN" altLang="en-US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32688" y="1499616"/>
            <a:ext cx="196596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978408" y="1531619"/>
            <a:ext cx="18745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SFT DATA PIPELINE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2688" y="2011680"/>
            <a:ext cx="566928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6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36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数据构建框架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0120" y="352958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从论文抽取资产到机制问答，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构建可追溯、可筛选的领域训练数据。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3" name="Picture 62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75460"/>
            <a:ext cx="5166360" cy="344424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960120" y="4754880"/>
            <a:ext cx="1353312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1005840" y="4786884"/>
            <a:ext cx="1261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关系图驱动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459736" y="4754880"/>
            <a:ext cx="118872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2505456" y="47868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机制导向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3785615" y="4754880"/>
            <a:ext cx="118872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3831335" y="47868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60120" y="544068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框架说明  /  实例演示  /  历史数据统计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4950" y="28530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endParaRPr lang="zh-CN" altLang="en-US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583680" cy="51206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微调背景：让模型学会材料任务</a:t>
            </a:r>
            <a:endParaRPr sz="26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6112" y="1280160"/>
            <a:ext cx="10378440" cy="5120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微调：在预训练模型基础上继续训练；SFT 用“问题—参考答案”更新参数或适配器。</a:t>
            </a:r>
            <a:endParaRPr sz="17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5256" y="6190488"/>
            <a:ext cx="100126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参考：Lewis et al., RAG, NeurIPS 2020；Luo et al., 2023（灾难性遗忘）；本项目训练数据定位</a:t>
            </a:r>
            <a:endParaRPr sz="8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27080" y="6163056"/>
            <a:ext cx="36576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03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50976" y="1901952"/>
            <a:ext cx="4983480" cy="167335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1133856" y="2057400"/>
            <a:ext cx="4599432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SFT｜把任务能力学进模型</a:t>
            </a:r>
            <a:endParaRPr sz="21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33856" y="2542032"/>
            <a:ext cx="4599432" cy="9052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训练时：用 QA 示例更新参数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适合：术语、回答格式、机制解释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更新知识：通常需要再次训练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236208" y="1901952"/>
            <a:ext cx="4983480" cy="167335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6419088" y="2057400"/>
            <a:ext cx="4599432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RAG｜回答时检索外部证据</a:t>
            </a:r>
            <a:endParaRPr sz="21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19088" y="2542032"/>
            <a:ext cx="4599432" cy="9052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推理时：检索资料并加入上下文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适合：最新事实、具体数值、出处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更新知识：更新资料库与索引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8408" y="3694176"/>
            <a:ext cx="987552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主要难点：训练得更专业，也要保持可信与通用能力</a:t>
            </a:r>
            <a:endParaRPr sz="20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60120" y="4178808"/>
            <a:ext cx="3255264" cy="113385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106424" y="4315968"/>
            <a:ext cx="2962656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幻觉与错误固化</a:t>
            </a:r>
            <a:endParaRPr sz="18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06424" y="4727448"/>
            <a:ext cx="2962656" cy="4846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错误标签可能被学进参数；</a:t>
            </a:r>
            <a:endParaRPr sz="13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高质量数据、证据核验与拒答评测。</a:t>
            </a:r>
            <a:endParaRPr sz="13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462272" y="4178808"/>
            <a:ext cx="3255264" cy="113385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4608576" y="4315968"/>
            <a:ext cx="2962656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灾难性遗忘</a:t>
            </a:r>
            <a:endParaRPr sz="18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608576" y="4727448"/>
            <a:ext cx="2962656" cy="4846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领域训练可能削弱原有能力；</a:t>
            </a:r>
            <a:endParaRPr sz="13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混合通用数据、控制训练并回归评测。</a:t>
            </a:r>
            <a:endParaRPr sz="13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964424" y="4178808"/>
            <a:ext cx="3255264" cy="113385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8110728" y="4315968"/>
            <a:ext cx="2962656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数据稀缺与泛化</a:t>
            </a:r>
            <a:endParaRPr sz="18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110728" y="4727448"/>
            <a:ext cx="2962656" cy="4846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材料条件多、稀有机制少；</a:t>
            </a:r>
            <a:endParaRPr sz="13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按论文划分，测试未见工艺与材料。</a:t>
            </a:r>
            <a:endParaRPr sz="13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32688" y="5605272"/>
            <a:ext cx="10287000" cy="3931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1042415" y="5673852"/>
            <a:ext cx="10067544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两者可组合：SFT 训练“怎样回答”，RAG 提供“本次依据”；都需要验证事实。</a:t>
            </a:r>
            <a:endParaRPr sz="15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583680" cy="51206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材料领域研究：收益来自数据与训练</a:t>
            </a:r>
            <a:endParaRPr sz="26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6112" y="1280160"/>
            <a:ext cx="10378440" cy="5120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代表性工作（2023–2025）：区分指令微调、持续预训练，以及各自的评价口径。</a:t>
            </a:r>
            <a:endParaRPr sz="17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5256" y="6190488"/>
            <a:ext cx="100126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[1] HoneyBee, arXiv:2310.08511v1, Tab.2；[2] LLaMat, arXiv:2412.09560v2, Tab.E.1；[3] MELT, EMNLP 2024, Tab.1</a:t>
            </a:r>
            <a:endParaRPr sz="8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27080" y="6163056"/>
            <a:ext cx="36576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04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50976" y="1874519"/>
            <a:ext cx="10259568" cy="102412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1124712" y="1993391"/>
            <a:ext cx="3163824" cy="3017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HoneyBee</a:t>
            </a:r>
            <a:endParaRPr sz="19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24712" y="2441448"/>
            <a:ext cx="3063240" cy="26517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2023｜MatSci-Instruct 指令微调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25112" y="2020824"/>
            <a:ext cx="2935224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生成、独立验证，</a:t>
            </a:r>
            <a:endParaRPr sz="17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再按反馈改进数据</a:t>
            </a:r>
            <a:endParaRPr sz="17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16952" y="1965960"/>
            <a:ext cx="33284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7B：85.42 → 91.95</a:t>
            </a:r>
            <a:endParaRPr sz="22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616952" y="2395727"/>
            <a:ext cx="3310128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GPT-4 评定的 Accuracy；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无验证版本 → Stage 3。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50976" y="3017520"/>
            <a:ext cx="10259568" cy="102412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1124712" y="3136391"/>
            <a:ext cx="3163824" cy="3017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LLaMat</a:t>
            </a:r>
            <a:endParaRPr sz="19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24712" y="3584448"/>
            <a:ext cx="3063240" cy="26517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2025 v2｜持续预训练＋指令微调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325112" y="3163824"/>
            <a:ext cx="2935224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材料语料适配后进行任务训练</a:t>
            </a:r>
            <a:endParaRPr sz="17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16952" y="3108960"/>
            <a:ext cx="33284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86.23 → 93.03</a:t>
            </a:r>
            <a:endParaRPr sz="22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616952" y="3538727"/>
            <a:ext cx="3310128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MatNLP 平均 Micro-F1（%）；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LLaMA-3-chat FT → LLaMat-3-chat。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50976" y="4160520"/>
            <a:ext cx="10259568" cy="102412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1124712" y="4279392"/>
            <a:ext cx="3163824" cy="3017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MELT</a:t>
            </a:r>
            <a:endParaRPr sz="19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24712" y="4727448"/>
            <a:ext cx="3063240" cy="26517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2024｜持续预训练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325112" y="4306824"/>
            <a:ext cx="2935224" cy="6583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语义图组织知识，</a:t>
            </a:r>
            <a:endParaRPr sz="17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逐步学习专业概念</a:t>
            </a:r>
            <a:endParaRPr sz="17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16952" y="4251959"/>
            <a:ext cx="33284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0.693 → 0.741</a:t>
            </a:r>
            <a:endParaRPr sz="22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616952" y="4681728"/>
            <a:ext cx="3310128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MatSci-NLP 总体 Micro-F1；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SciBERT → MELT。</a:t>
            </a:r>
            <a:endParaRPr sz="12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932688" y="5504688"/>
            <a:ext cx="10287000" cy="3931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1042415" y="5573268"/>
            <a:ext cx="10067544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对本项目的启示：机制化组织知识＋审查数据；训练收益仍须用独立测试集验证。</a:t>
            </a:r>
            <a:endParaRPr sz="15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24128" y="5980176"/>
            <a:ext cx="1005840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不同任务、底座和评价方法之间不可横向排名；这些分数不代表开放式材料问答已无幻觉。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构建目标：把材料事实转成机制问答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围绕“成分—工艺—组织—性能”的关联，形成有明确研究对象与证据来源的训练样本。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05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188720" y="2029968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188720" y="2286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4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成分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657600" y="2029968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4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工艺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657600" y="4050791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3657600" y="43068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4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组织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188720" y="4050791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188720" y="43068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4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性能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3063240" y="2496312"/>
            <a:ext cx="530352" cy="0"/>
          </a:xfrm>
          <a:prstGeom prst="line">
            <a:avLst/>
          </a:prstGeom>
          <a:ln w="2540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72000" y="3035808"/>
            <a:ext cx="0" cy="905255"/>
          </a:xfrm>
          <a:prstGeom prst="line">
            <a:avLst/>
          </a:prstGeom>
          <a:ln w="2540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3063240" y="4517136"/>
            <a:ext cx="530352" cy="0"/>
          </a:xfrm>
          <a:prstGeom prst="line">
            <a:avLst/>
          </a:prstGeom>
          <a:ln w="25400">
            <a:solidFill>
              <a:srgbClr val="C28B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103120" y="3054096"/>
            <a:ext cx="0" cy="905256"/>
          </a:xfrm>
          <a:prstGeom prst="line">
            <a:avLst/>
          </a:prstGeom>
          <a:ln w="2540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176272" y="3282696"/>
            <a:ext cx="23317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关联与机理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943600" y="1938528"/>
            <a:ext cx="393192" cy="393192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5943600" y="1965960"/>
            <a:ext cx="393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492240" y="1920240"/>
            <a:ext cx="429768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让问题聚焦研究对象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92240" y="2377440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用成分与工艺描述对象，减少样品代号依赖。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5943600" y="3154680"/>
            <a:ext cx="393192" cy="393192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5943600" y="3182112"/>
            <a:ext cx="393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92240" y="3136392"/>
            <a:ext cx="429768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让答案解释因果过程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92240" y="359359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围绕促进、抑制、形成机制和性能后果出题。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943600" y="4370832"/>
            <a:ext cx="393192" cy="393192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2" name="TextBox 81"/>
          <p:cNvSpPr txBox="1"/>
          <p:nvPr/>
        </p:nvSpPr>
        <p:spPr>
          <a:xfrm>
            <a:off x="5943600" y="4398264"/>
            <a:ext cx="3931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492240" y="4352544"/>
            <a:ext cx="429768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让数据具备质量约束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492240" y="4809744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保留来源引用，对生成 QA 进行规则与模型评审。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总体流程：关系图与资产共同驱动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图路径提供机制锚点；公式、表征与多样本资产补充不同类型的任务。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06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0" name="Picture 59" descr="02_architecture.png"/>
          <p:cNvPicPr>
            <a:picLocks noChangeAspect="1"/>
          </p:cNvPicPr>
          <p:nvPr/>
        </p:nvPicPr>
        <p:blipFill>
          <a:blip r:embed="rId2"/>
          <a:srcRect t="9876"/>
          <a:stretch>
            <a:fillRect/>
          </a:stretch>
        </p:blipFill>
        <p:spPr>
          <a:xfrm>
            <a:off x="1339850" y="1609090"/>
            <a:ext cx="9405620" cy="3767455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969264" y="5440680"/>
            <a:ext cx="10222992" cy="39319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97280" y="5518404"/>
            <a:ext cx="9985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输入资产 → 关系图 / 资产分支 → 出题规格 → LLM 生成 → 审查、去重与划分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关系图构建：实体映射与关系抽取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每篇论文形成节点、类型化关系边与机制路径；以 JSON 输出，可用于后续图谱导入。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07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32688" y="1947672"/>
            <a:ext cx="3218688" cy="25420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ounded Rectangle 60"/>
          <p:cNvSpPr/>
          <p:nvPr/>
        </p:nvSpPr>
        <p:spPr>
          <a:xfrm>
            <a:off x="1115568" y="2139696"/>
            <a:ext cx="521207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161288" y="2171700"/>
            <a:ext cx="429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15568" y="267004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实体与结构关系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15568" y="3209544"/>
            <a:ext cx="286207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 JSON → 节点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5568" y="3703320"/>
            <a:ext cx="2862072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成分 / 工艺 / 组织 / 性能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保留属性与来源引用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115568" y="4654296"/>
            <a:ext cx="1225296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161288" y="46863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代码映射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480560" y="1947672"/>
            <a:ext cx="3218688" cy="25420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Rounded Rectangle 68"/>
          <p:cNvSpPr/>
          <p:nvPr/>
        </p:nvSpPr>
        <p:spPr>
          <a:xfrm>
            <a:off x="4663440" y="2139696"/>
            <a:ext cx="521207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4709160" y="2171700"/>
            <a:ext cx="429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663440" y="267004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机制关系边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663440" y="3209544"/>
            <a:ext cx="286207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Wiki 机制叙述 → 关系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663440" y="3703320"/>
            <a:ext cx="2862072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causes / suppresses 等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受控词表约束节点间关系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663440" y="4654296"/>
            <a:ext cx="1225296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4709160" y="46863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LLM 抽取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8028431" y="1947672"/>
            <a:ext cx="3218688" cy="25420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7" name="Rounded Rectangle 76"/>
          <p:cNvSpPr/>
          <p:nvPr/>
        </p:nvSpPr>
        <p:spPr>
          <a:xfrm>
            <a:off x="8211311" y="2139696"/>
            <a:ext cx="521207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8257031" y="2171700"/>
            <a:ext cx="429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11311" y="267004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机制路径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211311" y="3209544"/>
            <a:ext cx="286207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相接关系边 → 路径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211311" y="3703320"/>
            <a:ext cx="2862072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根据边的首尾连接尝试串链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为机制问答提供出题焦点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8211311" y="4654296"/>
            <a:ext cx="1225296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3" name="TextBox 82"/>
          <p:cNvSpPr txBox="1"/>
          <p:nvPr/>
        </p:nvSpPr>
        <p:spPr>
          <a:xfrm>
            <a:off x="8257031" y="46863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路径组装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4187952" y="3236976"/>
            <a:ext cx="228600" cy="0"/>
          </a:xfrm>
          <a:prstGeom prst="line">
            <a:avLst/>
          </a:prstGeom>
          <a:ln w="2032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35824" y="3236976"/>
            <a:ext cx="228600" cy="0"/>
          </a:xfrm>
          <a:prstGeom prst="line">
            <a:avLst/>
          </a:prstGeom>
          <a:ln w="2032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41832" y="5221224"/>
            <a:ext cx="10287000" cy="512064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7" name="TextBox 86"/>
          <p:cNvSpPr txBox="1"/>
          <p:nvPr/>
        </p:nvSpPr>
        <p:spPr>
          <a:xfrm>
            <a:off x="1097280" y="5358384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图检查：端点是否存在、关系是否在词表、机制边是否有证据引用；当前问题记录为告警。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任务设计：五类 QA 覆盖不同推理需求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统一使用“题型＋出题焦点＋事实卡片”驱动生成；默认每个规格请求 2 个问答变体。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08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32688" y="1856231"/>
            <a:ext cx="10287000" cy="57607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Oval 60"/>
          <p:cNvSpPr/>
          <p:nvPr/>
        </p:nvSpPr>
        <p:spPr>
          <a:xfrm>
            <a:off x="1069848" y="1965960"/>
            <a:ext cx="329184" cy="329184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69848" y="1993391"/>
            <a:ext cx="329184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572768" y="1975103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机制解释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584448" y="2002536"/>
            <a:ext cx="2240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图路径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852160" y="1975103"/>
            <a:ext cx="5056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为什么形成这样的组织，并导致相应性能？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32688" y="2532887"/>
            <a:ext cx="10287000" cy="576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Oval 66"/>
          <p:cNvSpPr/>
          <p:nvPr/>
        </p:nvSpPr>
        <p:spPr>
          <a:xfrm>
            <a:off x="1069848" y="2642615"/>
            <a:ext cx="329184" cy="329184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1069848" y="2670047"/>
            <a:ext cx="329184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572768" y="2651759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关系方向短答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584448" y="2679191"/>
            <a:ext cx="2240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方向性关系边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852160" y="2651759"/>
            <a:ext cx="5056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某一组织因素促进还是抑制目标性能？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32688" y="3209544"/>
            <a:ext cx="10287000" cy="57607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Oval 72"/>
          <p:cNvSpPr/>
          <p:nvPr/>
        </p:nvSpPr>
        <p:spPr>
          <a:xfrm>
            <a:off x="1069848" y="3319272"/>
            <a:ext cx="329184" cy="329184"/>
          </a:xfrm>
          <a:prstGeom prst="ellipse">
            <a:avLst/>
          </a:prstGeom>
          <a:solidFill>
            <a:srgbClr val="C2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1069848" y="3346703"/>
            <a:ext cx="329184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572768" y="3328415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跨样本对比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584448" y="3355848"/>
            <a:ext cx="2240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同合金多样本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852160" y="3328415"/>
            <a:ext cx="5056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工艺改变后，组织与性能为何不同？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32688" y="3886200"/>
            <a:ext cx="10287000" cy="576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9" name="Oval 78"/>
          <p:cNvSpPr/>
          <p:nvPr/>
        </p:nvSpPr>
        <p:spPr>
          <a:xfrm>
            <a:off x="1069848" y="3995928"/>
            <a:ext cx="329184" cy="329184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0" name="TextBox 79"/>
          <p:cNvSpPr txBox="1"/>
          <p:nvPr/>
        </p:nvSpPr>
        <p:spPr>
          <a:xfrm>
            <a:off x="1069848" y="4023360"/>
            <a:ext cx="329184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572768" y="4005072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公式机制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584448" y="4032504"/>
            <a:ext cx="2240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公式与适用条件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852160" y="4005072"/>
            <a:ext cx="5056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公式用于解释什么机制，适用条件是什么？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32688" y="4562856"/>
            <a:ext cx="10287000" cy="57607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Oval 84"/>
          <p:cNvSpPr/>
          <p:nvPr/>
        </p:nvSpPr>
        <p:spPr>
          <a:xfrm>
            <a:off x="1069848" y="4672584"/>
            <a:ext cx="329184" cy="329184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6" name="TextBox 85"/>
          <p:cNvSpPr txBox="1"/>
          <p:nvPr/>
        </p:nvSpPr>
        <p:spPr>
          <a:xfrm>
            <a:off x="1069848" y="4700016"/>
            <a:ext cx="329184" cy="3017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05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572768" y="468172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证据推断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584448" y="4709160"/>
            <a:ext cx="2240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图表描述 / 表征文本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852160" y="4681728"/>
            <a:ext cx="5056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从表征现象可推断怎样的组织与机制？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051560" y="5522976"/>
            <a:ext cx="192024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91" name="TextBox 90"/>
          <p:cNvSpPr txBox="1"/>
          <p:nvPr/>
        </p:nvSpPr>
        <p:spPr>
          <a:xfrm>
            <a:off x="1097280" y="555498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无选择题 / 无负样本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3163824" y="5522976"/>
            <a:ext cx="2121408" cy="292608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93" name="TextBox 92"/>
          <p:cNvSpPr txBox="1"/>
          <p:nvPr/>
        </p:nvSpPr>
        <p:spPr>
          <a:xfrm>
            <a:off x="3209544" y="5554980"/>
            <a:ext cx="20299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定性解释为主，数值佐证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5486400" y="5522976"/>
            <a:ext cx="1947672" cy="292608"/>
          </a:xfrm>
          <a:prstGeom prst="roundRect">
            <a:avLst>
              <a:gd name="adj" fmla="val 10000"/>
            </a:avLst>
          </a:prstGeom>
          <a:solidFill>
            <a:srgbClr val="FB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95" name="TextBox 94"/>
          <p:cNvSpPr txBox="1"/>
          <p:nvPr/>
        </p:nvSpPr>
        <p:spPr>
          <a:xfrm>
            <a:off x="5532120" y="5554980"/>
            <a:ext cx="1856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禁内部 ID 与样品代号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实例：从已有资产组织出机制关系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研究对象：Fe–30.34Mn–8.93Al–0.9C 低密度钢；热轧后水淬，未再固溶处理。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示例来源：Corrosion Science，DOI 10.1016/j.corsci.2025.113331  |  示意图用于解释机制，并非实测图像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09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41832" y="1874519"/>
            <a:ext cx="3694176" cy="228600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ounded Rectangle 60"/>
          <p:cNvSpPr/>
          <p:nvPr/>
        </p:nvSpPr>
        <p:spPr>
          <a:xfrm>
            <a:off x="1115568" y="2039112"/>
            <a:ext cx="969264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161288" y="2071116"/>
            <a:ext cx="877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已有资产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24712" y="2560320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结构化事实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24712" y="29718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工艺：热轧 + 水淬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组织：保留纳米 κ-碳化物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24712" y="3657600"/>
            <a:ext cx="32918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机制叙述：κ-碳化物消耗基体 Al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6" name="Picture 65" descr="03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969" y="1819656"/>
            <a:ext cx="4976622" cy="2843784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60120" y="4828032"/>
            <a:ext cx="2240280" cy="6126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1051560" y="5010912"/>
            <a:ext cx="20574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κ-碳化物保留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3749039" y="4828032"/>
            <a:ext cx="2240280" cy="6126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3840479" y="5010912"/>
            <a:ext cx="20574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基体固溶 Al 受限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537960" y="4828032"/>
            <a:ext cx="1874519" cy="6126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6629400" y="5010912"/>
            <a:ext cx="1691639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富 Al 膜形成受限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961120" y="4828032"/>
            <a:ext cx="2240280" cy="6126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9052560" y="5010912"/>
            <a:ext cx="20574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保护性下降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3236976" y="5138928"/>
            <a:ext cx="457200" cy="0"/>
          </a:xfrm>
          <a:prstGeom prst="line">
            <a:avLst/>
          </a:prstGeom>
          <a:ln w="1905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25896" y="5138928"/>
            <a:ext cx="457200" cy="0"/>
          </a:xfrm>
          <a:prstGeom prst="line">
            <a:avLst/>
          </a:prstGeom>
          <a:ln w="1905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49056" y="5138928"/>
            <a:ext cx="457200" cy="0"/>
          </a:xfrm>
          <a:prstGeom prst="line">
            <a:avLst/>
          </a:prstGeom>
          <a:ln w="1905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583680" cy="51206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真实案例：这条 QA 对应什么图谱</a:t>
            </a:r>
            <a:endParaRPr sz="26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6112" y="1280160"/>
            <a:ext cx="10378440" cy="5120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同一论文、同一样品：Fe–30.34Mn–8.93Al–0.9C；热轧后水淬，未再固溶。</a:t>
            </a:r>
            <a:endParaRPr sz="17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5256" y="6190488"/>
            <a:ext cx="100126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依据：历史 graph/10.1016_j.corsci.2025.113331.json（path-5、r5、r9）；对应 records.jsonl</a:t>
            </a:r>
            <a:endParaRPr sz="8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27080" y="6163056"/>
            <a:ext cx="36576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10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78408" y="1828800"/>
            <a:ext cx="192024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1014984" y="1865376"/>
            <a:ext cx="1847088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选中机制路径：path-5</a:t>
            </a:r>
            <a:endParaRPr sz="11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090672" y="1847088"/>
            <a:ext cx="781812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节点保留原始标签；中文解释说明节点在资产中的实际含义。</a:t>
            </a:r>
            <a:endParaRPr sz="14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87552" y="2432304"/>
            <a:ext cx="2907792" cy="15270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 w="889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1097280" y="2578608"/>
            <a:ext cx="268833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κ-carbide</a:t>
            </a:r>
            <a:endParaRPr sz="20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97280" y="2999232"/>
            <a:ext cx="2688336" cy="2377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microstructure｜组织节点</a:t>
            </a:r>
            <a:endParaRPr sz="1200" b="0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15568" y="3337560"/>
            <a:ext cx="2651760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纳米 κ-碳化物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形貌：5–10 nm 析出物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617720" y="2432304"/>
            <a:ext cx="2907792" cy="15270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 w="889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727448" y="2578608"/>
            <a:ext cx="268833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interface_S0</a:t>
            </a:r>
            <a:endParaRPr sz="20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727448" y="2999232"/>
            <a:ext cx="2688336" cy="2377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interface｜界面记录</a:t>
            </a:r>
            <a:endParaRPr sz="1200" b="0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745736" y="3337560"/>
            <a:ext cx="2651760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γ/κ 界面、缺陷相互作用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保留未固溶样品的相演化信息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247888" y="2432304"/>
            <a:ext cx="2907792" cy="152704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 w="889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8357615" y="2578608"/>
            <a:ext cx="268833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perf_S0_baseline</a:t>
            </a:r>
            <a:endParaRPr sz="20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357615" y="2999232"/>
            <a:ext cx="2688336" cy="2377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performance｜性能记录</a:t>
            </a:r>
            <a:endParaRPr sz="1200" b="0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375904" y="3337560"/>
            <a:ext cx="2651760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3.5 wt% NaCl 环境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耐蚀性比较的基线记录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3922776" y="3099816"/>
            <a:ext cx="649224" cy="0"/>
          </a:xfrm>
          <a:prstGeom prst="line">
            <a:avLst/>
          </a:prstGeom>
          <a:ln w="2032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562088" y="3099816"/>
            <a:ext cx="640080" cy="0"/>
          </a:xfrm>
          <a:prstGeom prst="line">
            <a:avLst/>
          </a:prstGeom>
          <a:ln w="2032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77056" y="2468880"/>
            <a:ext cx="77724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9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r5</a:t>
            </a:r>
            <a:endParaRPr sz="9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9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suppresses</a:t>
            </a:r>
            <a:endParaRPr sz="9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43800" y="2468880"/>
            <a:ext cx="713232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r9</a:t>
            </a:r>
            <a:endParaRPr sz="10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causes</a:t>
            </a:r>
            <a:endParaRPr sz="10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87552" y="4133087"/>
            <a:ext cx="4864608" cy="114300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1133856" y="4270248"/>
            <a:ext cx="457200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r5｜抑制：κ-碳化物 → 界面记录</a:t>
            </a:r>
            <a:endParaRPr sz="16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133856" y="4663440"/>
            <a:ext cx="4572000" cy="5394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边文本：碳化物消耗 Al，降低膜表面 Al 含量，</a:t>
            </a:r>
            <a:endParaRPr sz="13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使连续、致密的富 Al 保护膜难以形成。</a:t>
            </a:r>
            <a:endParaRPr sz="13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291072" y="4133087"/>
            <a:ext cx="4864608" cy="114300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2" name="TextBox 81"/>
          <p:cNvSpPr txBox="1"/>
          <p:nvPr/>
        </p:nvSpPr>
        <p:spPr>
          <a:xfrm>
            <a:off x="6437376" y="4270248"/>
            <a:ext cx="457200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r9｜导致：界面记录 → 性能记录</a:t>
            </a:r>
            <a:endParaRPr sz="16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437376" y="4663440"/>
            <a:ext cx="4572000" cy="5394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边文本：形成的膜较薄，Fe / Mn 含量较高，</a:t>
            </a:r>
            <a:endParaRPr sz="13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保护能力较差，导致耐蚀性降低。</a:t>
            </a:r>
            <a:endParaRPr sz="13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32688" y="5522976"/>
            <a:ext cx="10287000" cy="3931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1042415" y="5591556"/>
            <a:ext cx="10067544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路径 = r5 ＋ r9；“富 Al 膜”在边的机制文本中，当前并不是单独的图节点。</a:t>
            </a:r>
            <a:endParaRPr sz="15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05840" y="5971032"/>
            <a:ext cx="1014984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证据索引来自节点来源合并；关联可追溯不等于关系已经通过原文逐条核验。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583680" cy="51206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从图谱到 QA：先定焦点，再写问答</a:t>
            </a:r>
            <a:endParaRPr sz="26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6112" y="1280160"/>
            <a:ext cx="10378440" cy="5120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图谱负责确定“解释哪段关系”；事实卡补充对象、条件和机制细节。</a:t>
            </a:r>
            <a:endParaRPr sz="17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5256" y="6190488"/>
            <a:ext cx="100126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代码依据：qa/spec.py:build_specs → qa/generate.py:generate_variants；历史 QA 原始记录</a:t>
            </a:r>
            <a:endParaRPr sz="8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27080" y="6163056"/>
            <a:ext cx="36576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11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60120" y="1920240"/>
            <a:ext cx="3191256" cy="1874519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Rounded Rectangle 59"/>
          <p:cNvSpPr/>
          <p:nvPr/>
        </p:nvSpPr>
        <p:spPr>
          <a:xfrm>
            <a:off x="1097280" y="2057400"/>
            <a:ext cx="438912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133856" y="2093976"/>
            <a:ext cx="365759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01</a:t>
            </a:r>
            <a:endParaRPr sz="11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97280" y="2542032"/>
            <a:ext cx="2916936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路径 → 出题规格</a:t>
            </a:r>
            <a:endParaRPr sz="19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97280" y="2971800"/>
            <a:ext cx="2916936" cy="7589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题型：mechanism_forward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锚点：r5、r9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焦点：Al 受限 → 成膜与耐蚀性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489704" y="1920240"/>
            <a:ext cx="3191256" cy="1874519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ounded Rectangle 64"/>
          <p:cNvSpPr/>
          <p:nvPr/>
        </p:nvSpPr>
        <p:spPr>
          <a:xfrm>
            <a:off x="4626864" y="2057400"/>
            <a:ext cx="438912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4663440" y="2093976"/>
            <a:ext cx="365759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02</a:t>
            </a:r>
            <a:endParaRPr sz="11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626864" y="2542032"/>
            <a:ext cx="2916936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样品 → 事实卡</a:t>
            </a:r>
            <a:endParaRPr sz="19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626864" y="2971800"/>
            <a:ext cx="2916936" cy="7589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成分：Fe–Mn–Al–C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工艺：热轧、水淬、未再固溶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补充：结构化属性＋Wiki 机制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019288" y="1920240"/>
            <a:ext cx="3191256" cy="1874519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Rounded Rectangle 69"/>
          <p:cNvSpPr/>
          <p:nvPr/>
        </p:nvSpPr>
        <p:spPr>
          <a:xfrm>
            <a:off x="8156448" y="2057400"/>
            <a:ext cx="438912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8193023" y="2093976"/>
            <a:ext cx="365759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03</a:t>
            </a:r>
            <a:endParaRPr sz="11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156448" y="2542032"/>
            <a:ext cx="2916936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规格＋事实卡 → 生成</a:t>
            </a:r>
            <a:endParaRPr sz="19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56448" y="2971800"/>
            <a:ext cx="2916936" cy="7589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输入：题型＋焦点＋上下文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要求：解释原因，交代研究对象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约束：不输出 S0 / r5 等代号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187952" y="2770632"/>
            <a:ext cx="256032" cy="0"/>
          </a:xfrm>
          <a:prstGeom prst="line">
            <a:avLst/>
          </a:prstGeom>
          <a:ln w="2032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717536" y="2770632"/>
            <a:ext cx="256032" cy="0"/>
          </a:xfrm>
          <a:prstGeom prst="line">
            <a:avLst/>
          </a:prstGeom>
          <a:ln w="2032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960120" y="3931920"/>
            <a:ext cx="10250424" cy="822960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1097280" y="4069080"/>
            <a:ext cx="4114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Q</a:t>
            </a:r>
            <a:endParaRPr sz="22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664208" y="4059936"/>
            <a:ext cx="9326880" cy="5852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在 Fe–30.34Mn–8.93Al–0.9C 钢经热轧水淬、未再固溶的状态下，</a:t>
            </a:r>
            <a:endParaRPr sz="17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为什么残留 κ-碳化物会限制连续致密富 Al 保护膜的形成？</a:t>
            </a:r>
            <a:endParaRPr sz="17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05840" y="4919472"/>
            <a:ext cx="10131552" cy="52120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答案组织：碳化物占用 Al → 表面成膜供应受限 → 膜的保护能力下降。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路径决定问答主题；事实卡提供解释内容，下一页展示实际保留的答案与评分。</a:t>
            </a:r>
            <a:endParaRPr sz="16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32688" y="5586984"/>
            <a:ext cx="10287000" cy="3931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1042415" y="5655564"/>
            <a:ext cx="10067544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5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实现要点：生成器接收文本化的题型、焦点和事实卡，不直接把整张图作为输入。</a:t>
            </a:r>
            <a:endParaRPr sz="145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实例：关系锚点转成可训练的 QA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同一机制焦点，转化为自然问题与解释性答案；下方内容依据真实保留样例精简。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评分对应原始完整 QA：初审均分 9.25，交叉评审均分 8.75；均为模型评分  |  来源：历史 records.jsonl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50976" y="1865376"/>
            <a:ext cx="7077456" cy="1042415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ounded Rectangle 60"/>
          <p:cNvSpPr/>
          <p:nvPr/>
        </p:nvSpPr>
        <p:spPr>
          <a:xfrm>
            <a:off x="1124712" y="2011680"/>
            <a:ext cx="512064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170432" y="2043684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Q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28800" y="2039112"/>
            <a:ext cx="5870448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在热轧后水淬、未再固溶的该低密度钢中，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9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残留 κ-碳化物为什么会限制富 Al 保护膜的形成？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50976" y="3136392"/>
            <a:ext cx="7077456" cy="2395728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ounded Rectangle 64"/>
          <p:cNvSpPr/>
          <p:nvPr/>
        </p:nvSpPr>
        <p:spPr>
          <a:xfrm>
            <a:off x="1124712" y="3300984"/>
            <a:ext cx="512064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1170432" y="3332988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837943" y="3300984"/>
            <a:ext cx="58521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Al 被碳化物占用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837943" y="3639312"/>
            <a:ext cx="58521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κ-碳化物消耗基体 Al，降低可参与成膜的固溶 Al。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837943" y="4005072"/>
            <a:ext cx="58521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表面成膜供应受限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837943" y="4343400"/>
            <a:ext cx="58521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Al 向表面的供应不足，富 Al 膜难以连续、致密形成。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37943" y="4709160"/>
            <a:ext cx="58521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保护能力随之下降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837943" y="5047488"/>
            <a:ext cx="58521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膜中 Fe、Mn 氧化物比例偏高，保护性相应减弱。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403336" y="192024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7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真实样例初审得分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394192" y="256946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准确性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537192" y="2642616"/>
            <a:ext cx="886968" cy="91440"/>
          </a:xfrm>
          <a:prstGeom prst="rect">
            <a:avLst/>
          </a:prstGeom>
          <a:solidFill>
            <a:srgbClr val="D8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6" name="Rectangle 75"/>
          <p:cNvSpPr/>
          <p:nvPr/>
        </p:nvSpPr>
        <p:spPr>
          <a:xfrm>
            <a:off x="9537192" y="2642616"/>
            <a:ext cx="842619" cy="91440"/>
          </a:xfrm>
          <a:prstGeom prst="rect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10588752" y="255117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9.5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394192" y="313639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专业性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537192" y="3209544"/>
            <a:ext cx="886968" cy="91440"/>
          </a:xfrm>
          <a:prstGeom prst="rect">
            <a:avLst/>
          </a:prstGeom>
          <a:solidFill>
            <a:srgbClr val="D8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0" name="Rectangle 79"/>
          <p:cNvSpPr/>
          <p:nvPr/>
        </p:nvSpPr>
        <p:spPr>
          <a:xfrm>
            <a:off x="9537192" y="3209544"/>
            <a:ext cx="798271" cy="91440"/>
          </a:xfrm>
          <a:prstGeom prst="rect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10588752" y="311810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9.0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394192" y="37033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完整性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537192" y="3776472"/>
            <a:ext cx="886968" cy="91440"/>
          </a:xfrm>
          <a:prstGeom prst="rect">
            <a:avLst/>
          </a:prstGeom>
          <a:solidFill>
            <a:srgbClr val="D8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4" name="Rectangle 83"/>
          <p:cNvSpPr/>
          <p:nvPr/>
        </p:nvSpPr>
        <p:spPr>
          <a:xfrm>
            <a:off x="9537192" y="3776472"/>
            <a:ext cx="798271" cy="91440"/>
          </a:xfrm>
          <a:prstGeom prst="rect">
            <a:avLst/>
          </a:prstGeom>
          <a:solidFill>
            <a:srgbClr val="C2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10588752" y="368503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9.0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394192" y="427024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自然度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537192" y="4343400"/>
            <a:ext cx="886968" cy="91440"/>
          </a:xfrm>
          <a:prstGeom prst="rect">
            <a:avLst/>
          </a:prstGeom>
          <a:solidFill>
            <a:srgbClr val="D8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8" name="Rectangle 87"/>
          <p:cNvSpPr/>
          <p:nvPr/>
        </p:nvSpPr>
        <p:spPr>
          <a:xfrm>
            <a:off x="9537192" y="4343400"/>
            <a:ext cx="842619" cy="91440"/>
          </a:xfrm>
          <a:prstGeom prst="rect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10588752" y="425196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9.5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394192" y="5111496"/>
            <a:ext cx="2496312" cy="292608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91" name="TextBox 90"/>
          <p:cNvSpPr txBox="1"/>
          <p:nvPr/>
        </p:nvSpPr>
        <p:spPr>
          <a:xfrm>
            <a:off x="8439912" y="5143500"/>
            <a:ext cx="24048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L0 / 初审 / 复核均通过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质量门控：规则检查 + 双轮模型评审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最终保留条件：L0 通过，四维评分达标，启用的交叉评审也达标。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13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60120" y="1956816"/>
            <a:ext cx="3172968" cy="259689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Oval 60"/>
          <p:cNvSpPr/>
          <p:nvPr/>
        </p:nvSpPr>
        <p:spPr>
          <a:xfrm>
            <a:off x="1161288" y="2139696"/>
            <a:ext cx="594360" cy="594360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161288" y="2167127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L0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61288" y="2898648"/>
            <a:ext cx="2770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确定性规则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1288" y="3520440"/>
            <a:ext cx="2770632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QA 非空；证据引用非空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无内部 ID 与样品代号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无选择题；答案非裸数值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507992" y="1956816"/>
            <a:ext cx="3172968" cy="259689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Oval 65"/>
          <p:cNvSpPr/>
          <p:nvPr/>
        </p:nvSpPr>
        <p:spPr>
          <a:xfrm>
            <a:off x="4709159" y="2139696"/>
            <a:ext cx="594360" cy="594360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709159" y="2167127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L2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709159" y="2898648"/>
            <a:ext cx="2770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四维综合评分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709159" y="3520440"/>
            <a:ext cx="2770632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准确性 / 专业性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完整性 / 自然度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均分至少7；各维至少6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055864" y="1956816"/>
            <a:ext cx="3172968" cy="259689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Oval 70"/>
          <p:cNvSpPr/>
          <p:nvPr/>
        </p:nvSpPr>
        <p:spPr>
          <a:xfrm>
            <a:off x="8257032" y="2139696"/>
            <a:ext cx="594360" cy="594360"/>
          </a:xfrm>
          <a:prstGeom prst="ellipse">
            <a:avLst/>
          </a:prstGeom>
          <a:solidFill>
            <a:srgbClr val="C2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8257032" y="2167127"/>
            <a:ext cx="594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复核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257032" y="2898648"/>
            <a:ext cx="2770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交叉评审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257032" y="3520440"/>
            <a:ext cx="2770632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更换专家提示词再次评分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关注事实偏差与过度外推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采用相同阈值，默认启用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4160520" y="3227832"/>
            <a:ext cx="274320" cy="0"/>
          </a:xfrm>
          <a:prstGeom prst="line">
            <a:avLst/>
          </a:prstGeom>
          <a:ln w="2159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708392" y="3227832"/>
            <a:ext cx="274320" cy="0"/>
          </a:xfrm>
          <a:prstGeom prst="line">
            <a:avLst/>
          </a:prstGeom>
          <a:ln w="2159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969264" y="4892040"/>
            <a:ext cx="4928616" cy="640080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1133856" y="5084064"/>
            <a:ext cx="45902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全部达标 → 进入保留集，再去重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099048" y="4892040"/>
            <a:ext cx="5129784" cy="640080"/>
          </a:xfrm>
          <a:prstGeom prst="roundRect">
            <a:avLst>
              <a:gd name="adj" fmla="val 10000"/>
            </a:avLst>
          </a:prstGeom>
          <a:solidFill>
            <a:srgbClr val="FB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0" name="TextBox 79"/>
          <p:cNvSpPr txBox="1"/>
          <p:nvPr/>
        </p:nvSpPr>
        <p:spPr>
          <a:xfrm>
            <a:off x="6272784" y="5084064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B0525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任一未达标 → 保存拒绝原因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4128" y="5687568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2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评分阈值由代码计算；评审结果无法解析时保守拒绝。当前没有自动修改后重审的闭环。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可追溯设计与当前审查边界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保存来源是审计基础；判断每条论断是否被原文支持，还需要进一步核验。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87552" y="1856231"/>
            <a:ext cx="10149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1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来源链条随数据保留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87552" y="2423160"/>
            <a:ext cx="2295144" cy="6309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42416" y="2615184"/>
            <a:ext cx="2185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 / 样品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730752" y="2423160"/>
            <a:ext cx="2295144" cy="6309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3785615" y="2615184"/>
            <a:ext cx="2185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文本 / 图表 / 公式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473952" y="2423160"/>
            <a:ext cx="2295144" cy="6309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6528816" y="2615184"/>
            <a:ext cx="2185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关系路径与 QA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9217152" y="2423160"/>
            <a:ext cx="1947672" cy="6309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9272016" y="2615184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6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评分与原因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3337560" y="2734056"/>
            <a:ext cx="329184" cy="0"/>
          </a:xfrm>
          <a:prstGeom prst="line">
            <a:avLst/>
          </a:prstGeom>
          <a:ln w="1905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080760" y="2734056"/>
            <a:ext cx="329184" cy="0"/>
          </a:xfrm>
          <a:prstGeom prst="line">
            <a:avLst/>
          </a:prstGeom>
          <a:ln w="1905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823960" y="2734056"/>
            <a:ext cx="329184" cy="0"/>
          </a:xfrm>
          <a:prstGeom prst="line">
            <a:avLst/>
          </a:prstGeom>
          <a:ln w="1905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87552" y="3520440"/>
            <a:ext cx="356616" cy="356616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987552" y="3547872"/>
            <a:ext cx="3566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508760" y="3511296"/>
            <a:ext cx="437997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原文逐论断核验未启用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508760" y="3950208"/>
            <a:ext cx="4379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L1 代码保留；当前主要比对事实卡。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6281928" y="3520440"/>
            <a:ext cx="356616" cy="356616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6281928" y="3547872"/>
            <a:ext cx="3566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803136" y="3511296"/>
            <a:ext cx="437997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两轮评审使用同一模型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803136" y="3950208"/>
            <a:ext cx="4379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通过提示词区分视角，尚非跨模型复核。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987552" y="4645152"/>
            <a:ext cx="356616" cy="356616"/>
          </a:xfrm>
          <a:prstGeom prst="ellipse">
            <a:avLst/>
          </a:prstGeom>
          <a:solidFill>
            <a:srgbClr val="C2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987552" y="4672584"/>
            <a:ext cx="3566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508760" y="4636008"/>
            <a:ext cx="437997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图片题依赖已有图像描述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508760" y="5074920"/>
            <a:ext cx="4379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图片可随训练样本导出；当前未直接视觉核验。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281928" y="4645152"/>
            <a:ext cx="356616" cy="356616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6281928" y="4672584"/>
            <a:ext cx="3566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803136" y="4636008"/>
            <a:ext cx="437997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图检查问题当前作为告警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803136" y="5074920"/>
            <a:ext cx="43799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尚未强制阻断缺少证据的关系参与出题。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工程交付：训练数据、审计记录与关系图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按论文并发处理，生成与评审按规格并发；通过后去重，并按论文划分数据集。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15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50976" y="1947672"/>
            <a:ext cx="3182112" cy="292608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1161288" y="2176272"/>
            <a:ext cx="402336" cy="50292"/>
          </a:xfrm>
          <a:prstGeom prst="rect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161288" y="2496312"/>
            <a:ext cx="2770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训练数据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61288" y="3063240"/>
            <a:ext cx="277063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train / val / test.jsonl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1288" y="3739896"/>
            <a:ext cx="277063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Alpaca 格式：问答样本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可附 images 图片路径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同论文归入同一数据子集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498848" y="1947672"/>
            <a:ext cx="3182112" cy="292608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Rectangle 65"/>
          <p:cNvSpPr/>
          <p:nvPr/>
        </p:nvSpPr>
        <p:spPr>
          <a:xfrm>
            <a:off x="4709160" y="2176272"/>
            <a:ext cx="402336" cy="50292"/>
          </a:xfrm>
          <a:prstGeom prst="rect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709160" y="2496312"/>
            <a:ext cx="2770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审计记录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709160" y="3063240"/>
            <a:ext cx="277063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records / rejected.jsonl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709160" y="3739896"/>
            <a:ext cx="277063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保留题型、对象、证据和评分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通过与拒绝样本分开保存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便于检查拒绝原因与追溯来源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046720" y="1947672"/>
            <a:ext cx="3182112" cy="2926080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8257032" y="2176272"/>
            <a:ext cx="402336" cy="50292"/>
          </a:xfrm>
          <a:prstGeom prst="rect">
            <a:avLst/>
          </a:prstGeom>
          <a:solidFill>
            <a:srgbClr val="C2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8257032" y="2496312"/>
            <a:ext cx="2770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图谱与统计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257032" y="3063240"/>
            <a:ext cx="277063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graph / data_card / stats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257032" y="3739896"/>
            <a:ext cx="277063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按论文保存节点、关系、路径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记录题型数量与数据划分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为批量更新与后续分析提供基础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1051560" y="5294376"/>
            <a:ext cx="224028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1097280" y="5326380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论文间并发：默认 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3502152" y="5294376"/>
            <a:ext cx="2414016" cy="292608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3547872" y="5326380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论文内规格并发：默认 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126480" y="5294376"/>
            <a:ext cx="2075688" cy="292608"/>
          </a:xfrm>
          <a:prstGeom prst="roundRect">
            <a:avLst>
              <a:gd name="adj" fmla="val 10000"/>
            </a:avLst>
          </a:prstGeom>
          <a:solidFill>
            <a:srgbClr val="FB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0" name="TextBox 79"/>
          <p:cNvSpPr txBox="1"/>
          <p:nvPr/>
        </p:nvSpPr>
        <p:spPr>
          <a:xfrm>
            <a:off x="6172200" y="5326380"/>
            <a:ext cx="1984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机制指纹与近重复去重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394192" y="5376672"/>
            <a:ext cx="26243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同论文分组，减少数据泄露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当前基础与下一步完善方向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已具备从资产到训练文件的完整构建链路；后续重点提升证据核验、图谱约束与数据覆盖。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材料领域 SFT 数据构建框架  |  关系图驱动 · 机制导向 · 质量门控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16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78408" y="1938528"/>
            <a:ext cx="3877056" cy="3621024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ounded Rectangle 60"/>
          <p:cNvSpPr/>
          <p:nvPr/>
        </p:nvSpPr>
        <p:spPr>
          <a:xfrm>
            <a:off x="1170432" y="2130552"/>
            <a:ext cx="1078992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216152" y="2162556"/>
            <a:ext cx="9875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2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当前已实现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79576" y="2715768"/>
            <a:ext cx="3493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5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框架已打通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1197864" y="3374136"/>
            <a:ext cx="173736" cy="173736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1197864" y="3401568"/>
            <a:ext cx="173736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9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1536192" y="3337560"/>
            <a:ext cx="302666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资产加载 → 机制关系图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197864" y="3913632"/>
            <a:ext cx="173736" cy="173736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1197864" y="3941064"/>
            <a:ext cx="173736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9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1536192" y="3877056"/>
            <a:ext cx="302666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五类 QA → 规则与双轮评分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197864" y="4453128"/>
            <a:ext cx="173736" cy="173736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1197864" y="4480560"/>
            <a:ext cx="173736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9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1536192" y="4416552"/>
            <a:ext cx="302666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600" b="0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去重划分 → 训练与审计导出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0952" y="1984248"/>
            <a:ext cx="5650992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3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下一步完善（规划）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340096" y="2706624"/>
            <a:ext cx="384048" cy="384048"/>
          </a:xfrm>
          <a:prstGeom prst="ellipse">
            <a:avLst/>
          </a:prstGeom>
          <a:solidFill>
            <a:srgbClr val="24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5340096" y="2734056"/>
            <a:ext cx="384048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916168" y="2688336"/>
            <a:ext cx="5129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增强事实核验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916168" y="3099816"/>
            <a:ext cx="5129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对关键机制与数值回查原文，降低共同基线错误。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340096" y="3675887"/>
            <a:ext cx="384048" cy="384048"/>
          </a:xfrm>
          <a:prstGeom prst="ellipse">
            <a:avLst/>
          </a:prstGeom>
          <a:solidFill>
            <a:srgbClr val="14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5340096" y="3703320"/>
            <a:ext cx="384048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916168" y="3657599"/>
            <a:ext cx="5129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强化图谱约束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916168" y="4069079"/>
            <a:ext cx="5129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增加样本归属与关系证据检查，明确阻断策略。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5340096" y="4645152"/>
            <a:ext cx="384048" cy="384048"/>
          </a:xfrm>
          <a:prstGeom prst="ellipse">
            <a:avLst/>
          </a:prstGeom>
          <a:solidFill>
            <a:srgbClr val="C2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3" name="TextBox 82"/>
          <p:cNvSpPr txBox="1"/>
          <p:nvPr/>
        </p:nvSpPr>
        <p:spPr>
          <a:xfrm>
            <a:off x="5340096" y="4672584"/>
            <a:ext cx="384048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916168" y="4626864"/>
            <a:ext cx="5129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扩大覆盖并独立评测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16168" y="5038344"/>
            <a:ext cx="51297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引入更多论文，建立验证 / 测试集并分析题型质量。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5577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历史示例统计：规模与题型分布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" y="1316736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本页为本地已保存的单篇论文历史运行结果，供汇报占位；后续可替换为最新总量。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6112" y="6163056"/>
            <a:ext cx="98755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9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数据来源：sft_mechanism_qa/out_sft/data_card.json、records.jsonl、rejected.jsonl  |  与管线 examples 的 74 条结果一致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899648" y="614476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17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69264" y="1865376"/>
            <a:ext cx="2368296" cy="98755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143000" y="1975104"/>
            <a:ext cx="9326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1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084832" y="2185416"/>
            <a:ext cx="10881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538728" y="1865376"/>
            <a:ext cx="2368296" cy="98755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3712464" y="1975104"/>
            <a:ext cx="9326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1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77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654296" y="2185416"/>
            <a:ext cx="10881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出题规格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108192" y="1865376"/>
            <a:ext cx="2368296" cy="98755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6281928" y="1975104"/>
            <a:ext cx="9326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100" b="1">
                <a:solidFill>
                  <a:srgbClr val="C28B32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154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223759" y="2185416"/>
            <a:ext cx="10881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生成候选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677656" y="1865376"/>
            <a:ext cx="2368296" cy="98755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8851392" y="1975104"/>
            <a:ext cx="93268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1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74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793224" y="2185416"/>
            <a:ext cx="10881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3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去重后保留 QA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33271" y="320954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候选处理口径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78992" y="3730752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154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423160" y="376732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生成候选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78992" y="4142232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− 4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423160" y="417880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审查拒绝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78992" y="4553712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72B4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− 76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423160" y="459028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去重移除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78992" y="4965192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48F91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= 74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23160" y="500176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5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最终保留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78992" y="5504688"/>
            <a:ext cx="413308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图谱：60 节点 / 90 条边 / 18 条路径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852160" y="3209544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0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 QA 的题型分布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5751576" y="3648456"/>
          <a:ext cx="5120640" cy="2002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5925312" y="5687568"/>
            <a:ext cx="49011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0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仅 1 篇论文：train 74，val 0，test 0；不合并旧版其他框架数据。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629400" cy="4819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28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课题三进展汇报</a:t>
            </a:r>
            <a:r>
              <a:rPr 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：</a:t>
            </a:r>
            <a:r>
              <a:rPr lang="zh-CN" alt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数据库建设</a:t>
            </a:r>
            <a:endParaRPr lang="zh-CN" altLang="en-US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86968" y="6089904"/>
            <a:ext cx="10405872" cy="0"/>
          </a:xfrm>
          <a:prstGeom prst="line">
            <a:avLst/>
          </a:prstGeom>
          <a:ln w="8890">
            <a:solidFill>
              <a:srgbClr val="D8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932688" y="1499616"/>
            <a:ext cx="196596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978408" y="1531619"/>
            <a:ext cx="1874519" cy="188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1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DATABASE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2688" y="2011680"/>
            <a:ext cx="5669280" cy="1303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36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低密度</a:t>
            </a: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钢</a:t>
            </a:r>
            <a:endParaRPr lang="zh-CN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3600" b="1">
                <a:solidFill>
                  <a:srgbClr val="153F83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数据库</a:t>
            </a: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建设</a:t>
            </a:r>
            <a:endParaRPr lang="zh-CN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0120" y="3529584"/>
            <a:ext cx="4754880" cy="68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从</a:t>
            </a: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论文解析</a:t>
            </a:r>
            <a:r>
              <a:rPr lang="en-US" alt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 + </a:t>
            </a: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论文抽取资产</a:t>
            </a: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为基础</a:t>
            </a:r>
            <a:endParaRPr lang="zh-CN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  <a:defRPr sz="18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构建可“增删改查”的</a:t>
            </a: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数据库</a:t>
            </a:r>
            <a:endParaRPr lang="zh-CN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3" name="Picture 62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75460"/>
            <a:ext cx="5166360" cy="344424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960120" y="4754880"/>
            <a:ext cx="1353312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1005840" y="4786884"/>
            <a:ext cx="1261872" cy="22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资产</a:t>
            </a: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驱动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459736" y="4754880"/>
            <a:ext cx="118872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2505456" y="4786884"/>
            <a:ext cx="1097280" cy="22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en-US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API</a:t>
            </a: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导向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3785615" y="4754880"/>
            <a:ext cx="1188720" cy="292608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3831335" y="4786884"/>
            <a:ext cx="1097280" cy="22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  <a:defRPr sz="1300" b="1">
                <a:solidFill>
                  <a:srgbClr val="2468C8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 lang="zh-CN"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增删改查</a:t>
            </a:r>
            <a:endParaRPr lang="zh-CN"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60120" y="544068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60718A"/>
                </a:solidFill>
                <a:latin typeface="微软雅黑" panose="020B0604020202020204" charset="-122"/>
                <a:ea typeface="微软雅黑" panose="020B0604020202090204"/>
                <a:cs typeface="微软雅黑" panose="020B0604020202090204"/>
              </a:defRPr>
            </a:pPr>
            <a:r>
              <a:rPr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框架说明  /  实例演示  /  历史数据统计</a:t>
            </a:r>
            <a:endParaRPr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4950" y="285305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endParaRPr lang="zh-CN" altLang="en-US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建设成果：从论文到可用数据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01 建设成果     ·     README.md · qa_report.md（ingest_id=52）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19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以文献事实为核心，形成可查询、可复核的数据底座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13816" y="1993392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014984" y="2194560"/>
            <a:ext cx="2971800" cy="6858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4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68</a:t>
            </a:r>
            <a:endParaRPr sz="4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33271" y="2944368"/>
            <a:ext cx="2962656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篇文献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33271" y="3346704"/>
            <a:ext cx="2980944" cy="2286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低密度钢相关语料</a:t>
            </a:r>
            <a:endParaRPr sz="1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389120" y="1993392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4590288" y="2194560"/>
            <a:ext cx="2971800" cy="6858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4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638</a:t>
            </a:r>
            <a:endParaRPr sz="4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608576" y="2944368"/>
            <a:ext cx="2962656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个样品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608576" y="3346704"/>
            <a:ext cx="2980944" cy="2286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成分 × 工艺状态</a:t>
            </a:r>
            <a:endParaRPr sz="1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964424" y="1993392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8165592" y="2194560"/>
            <a:ext cx="2971800" cy="6858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4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1,508</a:t>
            </a:r>
            <a:endParaRPr sz="4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183880" y="2944368"/>
            <a:ext cx="2962656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条性能值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183880" y="3346704"/>
            <a:ext cx="2980944" cy="2286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其中 1,304 条可数值化</a:t>
            </a:r>
            <a:endParaRPr sz="1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77824" y="4160520"/>
            <a:ext cx="2487168" cy="4754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250</a:t>
            </a:r>
            <a:endParaRPr sz="2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77824" y="4745736"/>
            <a:ext cx="2487168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个合金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547872" y="4160520"/>
            <a:ext cx="2487168" cy="4754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10,316</a:t>
            </a:r>
            <a:endParaRPr sz="2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547872" y="4745736"/>
            <a:ext cx="2487168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个证据块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17920" y="4160520"/>
            <a:ext cx="2487168" cy="4754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68,944</a:t>
            </a:r>
            <a:endParaRPr sz="2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217920" y="4745736"/>
            <a:ext cx="2487168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条溯源记录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887967" y="4160520"/>
            <a:ext cx="2487168" cy="4754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5,099</a:t>
            </a:r>
            <a:endParaRPr sz="2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887967" y="4745736"/>
            <a:ext cx="2487168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条检索文档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成果重点：数据结构化、查询入口统一、证据与人工修订有据可查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建设目标：五项核心能力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01 建设成果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20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从材料研究的日常问题，反推数据库需要的能力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04672" y="2048256"/>
            <a:ext cx="2011680" cy="32278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69264" y="2258568"/>
            <a:ext cx="1682496" cy="34747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 sz="16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9264" y="2788920"/>
            <a:ext cx="1682496" cy="42062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存得住</a:t>
            </a:r>
            <a:endParaRPr sz="2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69264" y="3419856"/>
            <a:ext cx="1700784" cy="5943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原始材料能否保留？</a:t>
            </a:r>
            <a:endParaRPr sz="17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969264" y="4105656"/>
            <a:ext cx="1682496" cy="0"/>
          </a:xfrm>
          <a:prstGeom prst="line">
            <a:avLst/>
          </a:prstGeom>
          <a:ln w="1905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69264" y="4343400"/>
            <a:ext cx="1700784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内容寻址资产湖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结构化事实源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953512" y="2048256"/>
            <a:ext cx="2011680" cy="32278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3118104" y="2258568"/>
            <a:ext cx="1682496" cy="34747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 sz="16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118104" y="2788920"/>
            <a:ext cx="1682496" cy="42062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查得到</a:t>
            </a:r>
            <a:endParaRPr sz="2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118104" y="3419856"/>
            <a:ext cx="1700784" cy="5943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怎样找到目标材料？</a:t>
            </a:r>
            <a:endParaRPr sz="17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3118104" y="4105656"/>
            <a:ext cx="1682496" cy="0"/>
          </a:xfrm>
          <a:prstGeom prst="line">
            <a:avLst/>
          </a:prstGeom>
          <a:ln w="1905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118104" y="4343400"/>
            <a:ext cx="1700784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成分与性能筛选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关键词与语义检索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102352" y="2048256"/>
            <a:ext cx="2011680" cy="32278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5266944" y="2258568"/>
            <a:ext cx="1682496" cy="34747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 sz="16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266944" y="2788920"/>
            <a:ext cx="1682496" cy="42062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改得动</a:t>
            </a:r>
            <a:endParaRPr sz="2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266944" y="3419856"/>
            <a:ext cx="1700784" cy="5943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修订能否长期有效？</a:t>
            </a:r>
            <a:endParaRPr sz="17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266944" y="4105656"/>
            <a:ext cx="1682496" cy="0"/>
          </a:xfrm>
          <a:prstGeom prst="line">
            <a:avLst/>
          </a:prstGeom>
          <a:ln w="1905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266944" y="4343400"/>
            <a:ext cx="1700784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人工校订留痕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入库后自动重放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251192" y="2048256"/>
            <a:ext cx="2011680" cy="32278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7415784" y="2258568"/>
            <a:ext cx="1682496" cy="34747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04</a:t>
            </a:r>
            <a:endParaRPr sz="16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415784" y="2788920"/>
            <a:ext cx="1682496" cy="42062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说得清</a:t>
            </a:r>
            <a:endParaRPr sz="2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15784" y="3419856"/>
            <a:ext cx="1700784" cy="5943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数值来自哪份证据？</a:t>
            </a:r>
            <a:endParaRPr sz="17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7415784" y="4105656"/>
            <a:ext cx="1682496" cy="0"/>
          </a:xfrm>
          <a:prstGeom prst="line">
            <a:avLst/>
          </a:prstGeom>
          <a:ln w="1905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415784" y="4343400"/>
            <a:ext cx="1700784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论文与证据定位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来源批次可追踪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400032" y="2048256"/>
            <a:ext cx="2011680" cy="32278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9564624" y="2258568"/>
            <a:ext cx="1682496" cy="34747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05</a:t>
            </a:r>
            <a:endParaRPr sz="16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564624" y="2788920"/>
            <a:ext cx="1682496" cy="42062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用得上</a:t>
            </a:r>
            <a:endParaRPr sz="2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564624" y="3419856"/>
            <a:ext cx="1700784" cy="5943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研究者怎样使用？</a:t>
            </a:r>
            <a:endParaRPr sz="17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9564624" y="4105656"/>
            <a:ext cx="1682496" cy="0"/>
          </a:xfrm>
          <a:prstGeom prst="line">
            <a:avLst/>
          </a:prstGeom>
          <a:ln w="1905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564624" y="4343400"/>
            <a:ext cx="1700784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浏览页面与 API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面向分析和 AI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91" name="TextBox 90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五项能力贯穿存储、检索、校订和应用，构成持续使用的基础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583680" cy="51206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平台借鉴：材料条目、分层与检索</a:t>
            </a:r>
            <a:endParaRPr sz="26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6112" y="1280160"/>
            <a:ext cx="10378440" cy="5120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Materials Project 的条目组织已作为参考；企业与 AI 平台经验用于进一步设计对照。</a:t>
            </a:r>
            <a:endParaRPr sz="17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5256" y="6190488"/>
            <a:ext cx="100126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来源：MP 计算数据快照（Petousis et al., 2017）；Databricks / Pinecone 官方文档；DOI 10.1002/srin.202400475</a:t>
            </a:r>
            <a:endParaRPr sz="8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27080" y="6163056"/>
            <a:ext cx="36576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21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60120" y="1901952"/>
            <a:ext cx="4965192" cy="199339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1124712" y="2048256"/>
            <a:ext cx="4608576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Materials Project｜SiO₂ · mp-7029</a:t>
            </a:r>
            <a:endParaRPr sz="19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24712" y="2560320"/>
            <a:ext cx="4590288" cy="8595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结构：空间群 96；计算胞含 12 个原子</a:t>
            </a:r>
            <a:endParaRPr sz="15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PBE 带隙：5.51 eV；总介电常数：4.04</a:t>
            </a:r>
            <a:endParaRPr sz="15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性质与结构归属于同一 material_id</a:t>
            </a:r>
            <a:endParaRPr sz="15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124712" y="3520440"/>
            <a:ext cx="4590288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2017 年公开计算数据快照（matminer 收录）；非实验测量值。</a:t>
            </a:r>
            <a:endParaRPr sz="10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208776" y="1901952"/>
            <a:ext cx="4965192" cy="19933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6373368" y="2048256"/>
            <a:ext cx="4617720" cy="33832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SteelDig｜低密度钢 · 铸态样品</a:t>
            </a:r>
            <a:endParaRPr sz="21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373368" y="2560320"/>
            <a:ext cx="4590288" cy="2834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Fe–12Mn–9Al–3Cr–1.4C–0.02Nb</a:t>
            </a:r>
            <a:endParaRPr sz="1600" b="1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73368" y="2953512"/>
            <a:ext cx="4590288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屈服：880 ± 19 MPa    抗拉：1016 ± 12 MPa</a:t>
            </a:r>
            <a:endParaRPr sz="14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0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延伸率：39 ± 2 %    证据：b0035 / b0049</a:t>
            </a:r>
            <a:endParaRPr sz="140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373368" y="3602736"/>
            <a:ext cx="4590288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本地真实抽取记录；同成分不同工艺状态分别建样品。</a:t>
            </a:r>
            <a:endParaRPr sz="10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952744" y="2852928"/>
            <a:ext cx="219456" cy="0"/>
          </a:xfrm>
          <a:prstGeom prst="line">
            <a:avLst/>
          </a:prstGeom>
          <a:ln w="2032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60120" y="4233672"/>
            <a:ext cx="3255264" cy="10881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1088136" y="4370832"/>
            <a:ext cx="2999232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MP｜已参考</a:t>
            </a:r>
            <a:endParaRPr sz="18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88136" y="4773168"/>
            <a:ext cx="2999232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稳定 ID、元素筛选、详情与 API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本库以“论文＋样品”替代结构 ID。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462272" y="4233672"/>
            <a:ext cx="3255264" cy="10881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4590288" y="4370832"/>
            <a:ext cx="2999232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Databricks｜设计对照</a:t>
            </a:r>
            <a:endParaRPr sz="18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590288" y="4773168"/>
            <a:ext cx="2999232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原始 → 清洗 → 服务的分层思想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借鉴可重建流程；当前未采用该平台。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964424" y="4233672"/>
            <a:ext cx="3255264" cy="1088136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8092440" y="4370832"/>
            <a:ext cx="2999232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Pinecone｜设计对照</a:t>
            </a:r>
            <a:endParaRPr sz="18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092440" y="4773168"/>
            <a:ext cx="2999232" cy="4480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向量记录带元数据，支持条件过滤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本库使用 pgvector，并保留来源标识。</a:t>
            </a:r>
            <a:endParaRPr sz="125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32688" y="5605272"/>
            <a:ext cx="10287000" cy="3931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1042415" y="5673852"/>
            <a:ext cx="10067544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5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借鉴的是数据组织与治理方法：保留“计算结构”与“文献实验样品”的身份差异。</a:t>
            </a:r>
            <a:endParaRPr sz="145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总体架构：四层分工协同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22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59" name="Picture 58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261872"/>
            <a:ext cx="6995159" cy="46634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72983" y="1508760"/>
            <a:ext cx="336499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消费层｜让人和程序使用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72983" y="2020824"/>
            <a:ext cx="3364992" cy="5486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10 个页面 · 22 个接口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872983" y="2587752"/>
            <a:ext cx="336499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检索层｜让事实被找到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872983" y="3099816"/>
            <a:ext cx="3364992" cy="5486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精确 / 全文 / 模糊 / 语义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72983" y="3675887"/>
            <a:ext cx="336499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事实源｜组织材料事实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872983" y="4187952"/>
            <a:ext cx="3364992" cy="5486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PostgreSQL · 列 + JSONB + trace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872983" y="4745736"/>
            <a:ext cx="336499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资产湖｜保留派生资产</a:t>
            </a:r>
            <a:endParaRPr sz="19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72983" y="5257800"/>
            <a:ext cx="3364992" cy="5486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本地目录 · 内容指纹 · 只增写入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4128" y="6007608"/>
            <a:ext cx="10168128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00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四层是逻辑分工；事实与检索共用 PostgreSQL。下一页展开处理流程和关联标识。</a:t>
            </a:r>
            <a:endParaRPr sz="1300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115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" name="TextBox 54"/>
          <p:cNvSpPr txBox="1"/>
          <p:nvPr/>
        </p:nvSpPr>
        <p:spPr>
          <a:xfrm>
            <a:off x="685800" y="274320"/>
            <a:ext cx="6583680" cy="51206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53F8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四层怎样连通：处理流程与共同标识</a:t>
            </a:r>
            <a:endParaRPr sz="2600" b="1">
              <a:solidFill>
                <a:srgbClr val="153F8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6112" y="1280160"/>
            <a:ext cx="10378440" cy="5120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四层是逻辑分工：事实表与检索索引共用 PostgreSQL，文件字节存放在本地资产湖。</a:t>
            </a:r>
            <a:endParaRPr sz="17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5256" y="6190488"/>
            <a:ext cx="100126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实现：lake.py / ingest.py / searchidx.py；020_lake.sql / 050_search.sql；API main.py / web.py</a:t>
            </a:r>
            <a:endParaRPr sz="8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927080" y="6163056"/>
            <a:ext cx="36576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23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69264" y="1920240"/>
            <a:ext cx="3703320" cy="7132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1097280" y="2011680"/>
            <a:ext cx="3456432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01 资产湖</a:t>
            </a:r>
            <a:endParaRPr sz="18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97280" y="2350008"/>
            <a:ext cx="3456432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JSON / 图片 → SHA-256 对象</a:t>
            </a:r>
            <a:endParaRPr sz="12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4718304" y="2276856"/>
            <a:ext cx="365760" cy="0"/>
          </a:xfrm>
          <a:prstGeom prst="line">
            <a:avLst/>
          </a:prstGeom>
          <a:ln w="2032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221224" y="2020824"/>
            <a:ext cx="5888736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lake.object_ref：paper_id＋rel_path → object_id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lake.object：object_id → uri（物理文件）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2816352" y="2651760"/>
            <a:ext cx="0" cy="128016"/>
          </a:xfrm>
          <a:prstGeom prst="line">
            <a:avLst/>
          </a:prstGeom>
          <a:ln w="1778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69264" y="2807208"/>
            <a:ext cx="3703320" cy="7132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1097280" y="2898648"/>
            <a:ext cx="3456432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02 事实源</a:t>
            </a:r>
            <a:endParaRPr sz="18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97280" y="3236976"/>
            <a:ext cx="3456432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ETL 解析、归一、关联后写表</a:t>
            </a:r>
            <a:endParaRPr sz="12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4718304" y="3163824"/>
            <a:ext cx="365760" cy="0"/>
          </a:xfrm>
          <a:prstGeom prst="line">
            <a:avLst/>
          </a:prstGeom>
          <a:ln w="2032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221224" y="2907791"/>
            <a:ext cx="5888736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core.*：paper_id＋sample_id 关联样品事实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trace：再加 path，连接字段与证据块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2816352" y="3538728"/>
            <a:ext cx="0" cy="128016"/>
          </a:xfrm>
          <a:prstGeom prst="line">
            <a:avLst/>
          </a:prstGeom>
          <a:ln w="17780">
            <a:solidFill>
              <a:srgbClr val="148F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69264" y="3694176"/>
            <a:ext cx="3703320" cy="7132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1097280" y="3785615"/>
            <a:ext cx="3456432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B7802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03 检索层</a:t>
            </a:r>
            <a:endParaRPr sz="1800" b="1">
              <a:solidFill>
                <a:srgbClr val="B7802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97280" y="4123944"/>
            <a:ext cx="3456432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从事实生成检索文本与索引</a:t>
            </a:r>
            <a:endParaRPr sz="12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718304" y="4050791"/>
            <a:ext cx="365760" cy="0"/>
          </a:xfrm>
          <a:prstGeom prst="line">
            <a:avLst/>
          </a:prstGeom>
          <a:ln w="20320">
            <a:solidFill>
              <a:srgbClr val="B780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221224" y="3794760"/>
            <a:ext cx="5888736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search.document：doc_id、paper_id、sample_id、ref_id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文本分词＋全文/模糊索引；向量字段另行填充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2816352" y="4425696"/>
            <a:ext cx="0" cy="128016"/>
          </a:xfrm>
          <a:prstGeom prst="line">
            <a:avLst/>
          </a:prstGeom>
          <a:ln w="17780">
            <a:solidFill>
              <a:srgbClr val="B780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969264" y="4581144"/>
            <a:ext cx="3703320" cy="713232"/>
          </a:xfrm>
          <a:prstGeom prst="roundRect">
            <a:avLst>
              <a:gd name="adj" fmla="val 1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1097280" y="4672583"/>
            <a:ext cx="3456432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468C8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04 消费层</a:t>
            </a:r>
            <a:endParaRPr sz="1800" b="1">
              <a:solidFill>
                <a:srgbClr val="2468C8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97280" y="5010912"/>
            <a:ext cx="3456432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5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页面 / API 查询并返回结果</a:t>
            </a:r>
            <a:endParaRPr sz="125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4718304" y="4937759"/>
            <a:ext cx="365760" cy="0"/>
          </a:xfrm>
          <a:prstGeom prst="line">
            <a:avLst/>
          </a:prstGeom>
          <a:ln w="20320">
            <a:solidFill>
              <a:srgbClr val="2468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221224" y="4681728"/>
            <a:ext cx="5888736" cy="53035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精确筛选查事实视图；文本检索查 search.hybrid()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20" b="0">
                <a:solidFill>
                  <a:srgbClr val="172B43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用共同 ID 打开样品、证据与图表原图</a:t>
            </a:r>
            <a:endParaRPr sz="1320" b="0">
              <a:solidFill>
                <a:srgbClr val="172B43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32688" y="5577840"/>
            <a:ext cx="10287000" cy="393192"/>
          </a:xfrm>
          <a:prstGeom prst="roundRect">
            <a:avLst>
              <a:gd name="adj" fmla="val 10000"/>
            </a:avLst>
          </a:prstGeom>
          <a:solidFill>
            <a:srgbClr val="EF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3" name="TextBox 82"/>
          <p:cNvSpPr txBox="1"/>
          <p:nvPr/>
        </p:nvSpPr>
        <p:spPr>
          <a:xfrm>
            <a:off x="1042415" y="5646420"/>
            <a:ext cx="10067544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00" b="1">
                <a:solidFill>
                  <a:srgbClr val="148F91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一次回查：页面 → 样品事实 → path / block_id → 原文证据；图像经 object_id 回到湖。</a:t>
            </a:r>
            <a:endParaRPr sz="1400" b="1">
              <a:solidFill>
                <a:srgbClr val="148F91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014984" y="5989320"/>
            <a:ext cx="1014984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0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事实由 ETL 入库，检索内容由构建函数生成；关联包含数据库外键和应用层标识映射。</a:t>
            </a:r>
            <a:endParaRPr sz="10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数据流水线：每一步都有产物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24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解析 → 抽取 → 入库，形成可以检查和重跑的处理链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0" name="Picture 59" descr="02_pipelin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15" y="1856231"/>
            <a:ext cx="7571232" cy="315468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59536" y="5157216"/>
            <a:ext cx="3383280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整篇事务</a:t>
            </a:r>
            <a:endParaRPr sz="18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9536" y="5577840"/>
            <a:ext cx="3383280" cy="38404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单篇要么成功，要么回滚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25696" y="5157216"/>
            <a:ext cx="3383280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重复可重跑</a:t>
            </a:r>
            <a:endParaRPr sz="18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425696" y="5577840"/>
            <a:ext cx="3383280" cy="38404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相同输入避免重复累积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91856" y="5157216"/>
            <a:ext cx="3383280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只读定稿</a:t>
            </a:r>
            <a:endParaRPr sz="18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991856" y="5577840"/>
            <a:ext cx="3383280" cy="38404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output/ 入库，过程日志留档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可靠存储：资产与事实分离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25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湖保留原始派生资产，仓提供可查询的材料事实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22960" y="1984248"/>
            <a:ext cx="4681728" cy="29992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822960" y="1984248"/>
            <a:ext cx="50292" cy="2999232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24128" y="2167128"/>
            <a:ext cx="427939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资产湖｜保存依据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24128" y="2743200"/>
            <a:ext cx="4279392" cy="214883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6,667 个对象 · 148 MB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JSON、图片按 SHA-256 寻址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可检查内容变化，重复内容去重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当前采用本地文件系统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656832" y="1984248"/>
            <a:ext cx="4681728" cy="299923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6656832" y="1984248"/>
            <a:ext cx="50292" cy="2999232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6858000" y="2167128"/>
            <a:ext cx="427939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事实源｜支撑查询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858000" y="2743200"/>
            <a:ext cx="4279392" cy="214883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36 张表 + 12 个视图 · 332 MB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结构化列承载筛选与关联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payload 保存原始 JSON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由保留的输入和清单重建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ight Arrow 67"/>
          <p:cNvSpPr/>
          <p:nvPr/>
        </p:nvSpPr>
        <p:spPr>
          <a:xfrm>
            <a:off x="5742432" y="3072384"/>
            <a:ext cx="612648" cy="301752"/>
          </a:xfrm>
          <a:prstGeom prst="rightArrow">
            <a:avLst/>
          </a:prstGeom>
          <a:solidFill>
            <a:srgbClr val="22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5596128" y="3648456"/>
            <a:ext cx="932688" cy="52120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重放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入库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重建依赖完整输入；原始 PDF、清单和人工校订记录也需要备份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数据模型：以样品连接材料信息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26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一个样品 = 一组成分 × 一套工艺状态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286000" y="3108960"/>
            <a:ext cx="2331720" cy="0"/>
          </a:xfrm>
          <a:prstGeom prst="line">
            <a:avLst/>
          </a:prstGeom>
          <a:ln w="25400">
            <a:solidFill>
              <a:srgbClr val="225A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949440" y="2423160"/>
            <a:ext cx="2148840" cy="685800"/>
          </a:xfrm>
          <a:prstGeom prst="line">
            <a:avLst/>
          </a:prstGeom>
          <a:ln w="25400">
            <a:solidFill>
              <a:srgbClr val="225A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949440" y="3108960"/>
            <a:ext cx="2148840" cy="731520"/>
          </a:xfrm>
          <a:prstGeom prst="line">
            <a:avLst/>
          </a:prstGeom>
          <a:ln w="25400">
            <a:solidFill>
              <a:srgbClr val="225A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779008" y="3621024"/>
            <a:ext cx="0" cy="950976"/>
          </a:xfrm>
          <a:prstGeom prst="line">
            <a:avLst/>
          </a:prstGeom>
          <a:ln w="25400">
            <a:solidFill>
              <a:srgbClr val="225A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286000" y="3621024"/>
            <a:ext cx="0" cy="950976"/>
          </a:xfrm>
          <a:prstGeom prst="line">
            <a:avLst/>
          </a:prstGeom>
          <a:ln w="25400">
            <a:solidFill>
              <a:srgbClr val="225A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51560" y="25146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1161288" y="2670048"/>
            <a:ext cx="2249424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 / 合金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61288" y="3154680"/>
            <a:ext cx="2249424" cy="2651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68 篇 / 250 个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526280" y="25146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4636008" y="2670048"/>
            <a:ext cx="2249424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样品</a:t>
            </a:r>
            <a:endParaRPr sz="22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636008" y="3154680"/>
            <a:ext cx="2249424" cy="2651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638 个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458200" y="1911095"/>
            <a:ext cx="2514600" cy="1060704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8567928" y="2066543"/>
            <a:ext cx="2295144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性能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567928" y="2551176"/>
            <a:ext cx="2295144" cy="2651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1,508 条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458200" y="3383280"/>
            <a:ext cx="2514600" cy="1060704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8567928" y="3538728"/>
            <a:ext cx="2295144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工艺步骤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567928" y="4023360"/>
            <a:ext cx="2295144" cy="2651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2,610 条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526280" y="4572000"/>
            <a:ext cx="2468880" cy="1060704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4636008" y="4727448"/>
            <a:ext cx="2249424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相与组织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636008" y="5212080"/>
            <a:ext cx="2249424" cy="2651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1,493 条相记录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051560" y="4572000"/>
            <a:ext cx="2468880" cy="1060704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1161288" y="4727448"/>
            <a:ext cx="2249424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原文与图表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161288" y="5212080"/>
            <a:ext cx="2249424" cy="2651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10,316 个证据块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653527" y="4965192"/>
            <a:ext cx="3401568" cy="5486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事实与出处通过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论文、样品及字段路径关联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005840" y="5998464"/>
            <a:ext cx="10195560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同样成分的不同热处理状态分别建样品，避免把不同实验条件的性能混在一起。</a:t>
            </a:r>
            <a:endParaRPr sz="15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字段设计：可筛选，也保留原文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27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常用条件进入结构化列，复杂信息保存在 JSONB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41248" y="1993392"/>
            <a:ext cx="5047488" cy="259689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841248" y="1993392"/>
            <a:ext cx="50292" cy="2596896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42416" y="2176272"/>
            <a:ext cx="4645151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结构化列｜用于筛选与关联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42416" y="2752344"/>
            <a:ext cx="4645151" cy="1746503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身份：论文号、样品号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维度：年份、性能种类、数值、单位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用途：比较大小、排序、跨表连接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089904" y="1993392"/>
            <a:ext cx="5248656" cy="259689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6089904" y="1993392"/>
            <a:ext cx="50292" cy="2596896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6291072" y="2176272"/>
            <a:ext cx="4846320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JSONB｜保留完整信息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291072" y="2752344"/>
            <a:ext cx="4846320" cy="1746503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payload 保存抽取原文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容纳变化较多的条件与描述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新增需求可从保留字段中回填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59536" y="4855464"/>
            <a:ext cx="10479024" cy="576072"/>
          </a:xfrm>
          <a:prstGeom prst="roundRect">
            <a:avLst>
              <a:gd name="adj" fmla="val 10000"/>
            </a:avLst>
          </a:prstGeom>
          <a:solidFill>
            <a:srgbClr val="10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1069848" y="5001768"/>
            <a:ext cx="10058400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原文 “685 MPa”    →    数值 685 + 单位 MPa    ｜    原始表达同时保留</a:t>
            </a:r>
            <a:endParaRPr sz="19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TextBox 70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保留原文与标准化值，让精确查询和后续复核能够同时成立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组织方式：稳定身份与性能长表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28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一行记录一个性能值，新增性能类型无需扩展一排空列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68680" y="1947672"/>
            <a:ext cx="5440680" cy="329184"/>
          </a:xfrm>
          <a:prstGeom prst="roundRect">
            <a:avLst>
              <a:gd name="adj" fmla="val 16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14400" y="1988819"/>
            <a:ext cx="5349240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示意数据｜用于解释表结构，不作为实验结果引用</a:t>
            </a:r>
            <a:endParaRPr sz="1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68680" y="2487168"/>
            <a:ext cx="6903720" cy="612648"/>
          </a:xfrm>
          <a:prstGeom prst="rect">
            <a:avLst/>
          </a:prstGeom>
          <a:solidFill>
            <a:srgbClr val="10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987552" y="2596896"/>
            <a:ext cx="1437436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样品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644444" y="2596896"/>
            <a:ext cx="2058771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性能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22672" y="2596896"/>
            <a:ext cx="1161288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数值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03416" y="2596896"/>
            <a:ext cx="1368399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单位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68680" y="3099816"/>
            <a:ext cx="6903720" cy="6126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987552" y="3209544"/>
            <a:ext cx="1437436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 / 铸态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644444" y="3209544"/>
            <a:ext cx="2058771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屈服强度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922672" y="3209544"/>
            <a:ext cx="1161288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880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03416" y="3209544"/>
            <a:ext cx="1368399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MPa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68680" y="3712464"/>
            <a:ext cx="6903720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868680" y="3712464"/>
            <a:ext cx="6903720" cy="612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987552" y="3822192"/>
            <a:ext cx="1437436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 / 铸态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644444" y="3822192"/>
            <a:ext cx="2058771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抗拉强度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922672" y="3822192"/>
            <a:ext cx="1161288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1,016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303416" y="3822192"/>
            <a:ext cx="1368399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MPa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868680" y="4325112"/>
            <a:ext cx="6903720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68680" y="4325112"/>
            <a:ext cx="6903720" cy="6126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0" name="TextBox 79"/>
          <p:cNvSpPr txBox="1"/>
          <p:nvPr/>
        </p:nvSpPr>
        <p:spPr>
          <a:xfrm>
            <a:off x="987552" y="4434840"/>
            <a:ext cx="1437436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 / 铸态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644444" y="4434840"/>
            <a:ext cx="2058771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延伸率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922672" y="4434840"/>
            <a:ext cx="1161288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39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03416" y="4434840"/>
            <a:ext cx="1368399" cy="45720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%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868680" y="4937760"/>
            <a:ext cx="6903720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8037575" y="2011680"/>
            <a:ext cx="3282696" cy="352044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6" name="Rectangle 85"/>
          <p:cNvSpPr/>
          <p:nvPr/>
        </p:nvSpPr>
        <p:spPr>
          <a:xfrm>
            <a:off x="8037575" y="2011680"/>
            <a:ext cx="50292" cy="3520440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7" name="TextBox 86"/>
          <p:cNvSpPr txBox="1"/>
          <p:nvPr/>
        </p:nvSpPr>
        <p:spPr>
          <a:xfrm>
            <a:off x="8238744" y="2194560"/>
            <a:ext cx="2880360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身份必须带论文号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238744" y="2770632"/>
            <a:ext cx="2880360" cy="267004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论文内：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论文号 + 样品号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跨论文：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受控词表挂标签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暂不自动合并实体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78408" y="5221224"/>
            <a:ext cx="6629400" cy="39319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查询某个样品的全部性能时，再按需要组合展示。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91" name="TextBox 90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事实与出处分开存储，以同一论文、样品和字段路径建立关联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检索设计：匹配不同的研究问法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03 查询与应用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29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结构化条件负责筛选，文本检索负责发现相关证据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32104" y="2002536"/>
            <a:ext cx="3355848" cy="32461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832104" y="2002536"/>
            <a:ext cx="50292" cy="3246120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33272" y="2185416"/>
            <a:ext cx="2953512" cy="3708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lang="zh-CN"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精确</a:t>
            </a: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筛选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33272" y="2761488"/>
            <a:ext cx="2953512" cy="239572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Al 8–11 wt%</a:t>
            </a:r>
            <a:endParaRPr sz="2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抗拉强度 &gt; 800 MPa</a:t>
            </a:r>
            <a:endParaRPr sz="2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33272" y="4251960"/>
            <a:ext cx="2953512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结构化列与索引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返回满足条件的记录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389120" y="2002536"/>
            <a:ext cx="3355848" cy="32461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Rectangle 65"/>
          <p:cNvSpPr/>
          <p:nvPr/>
        </p:nvSpPr>
        <p:spPr>
          <a:xfrm>
            <a:off x="4389120" y="2002536"/>
            <a:ext cx="50292" cy="3246120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590288" y="2185416"/>
            <a:ext cx="295351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关键词检索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590288" y="2761488"/>
            <a:ext cx="2953512" cy="239572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TWIP</a:t>
            </a:r>
            <a:endParaRPr sz="2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κ-碳化物</a:t>
            </a:r>
            <a:endParaRPr sz="2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90288" y="4251960"/>
            <a:ext cx="2953512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全文 + 模糊匹配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找到相关文字片段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946136" y="2002536"/>
            <a:ext cx="3355848" cy="32461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7946136" y="2002536"/>
            <a:ext cx="50292" cy="3246120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8147304" y="2185416"/>
            <a:ext cx="295351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语义检索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47304" y="2761488"/>
            <a:ext cx="2953512" cy="239572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“加铝为什么</a:t>
            </a:r>
            <a:endParaRPr sz="2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能降低密度？”</a:t>
            </a:r>
            <a:endParaRPr sz="22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147304" y="4251960"/>
            <a:ext cx="2953512" cy="7680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384 维向量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按语义相近程度召回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6" name="TextBox 75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文本检索以 RRF 融合全文、模糊与向量排名；精确条件单独承担约束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应用示例：按成分寻找候选材料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03 查询与应用     ·     项目成分检索页面截图 · 2026-10-23 留档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30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输入元素区间，先返回精确匹配，再查看近邻候选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0" name="Picture 59" descr="composi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16" y="1947672"/>
            <a:ext cx="5320807" cy="393192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7955279" y="2084831"/>
            <a:ext cx="475488" cy="329184"/>
          </a:xfrm>
          <a:prstGeom prst="roundRect">
            <a:avLst>
              <a:gd name="adj" fmla="val 16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8001000" y="2125979"/>
            <a:ext cx="384048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 sz="1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95360" y="2075688"/>
            <a:ext cx="2514600" cy="35661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设定条件</a:t>
            </a:r>
            <a:endParaRPr sz="21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55279" y="2569463"/>
            <a:ext cx="3218688" cy="7132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选择 Fe / Mn / Al / C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设置质量分数区间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955279" y="3346704"/>
            <a:ext cx="475488" cy="329184"/>
          </a:xfrm>
          <a:prstGeom prst="roundRect">
            <a:avLst>
              <a:gd name="adj" fmla="val 16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8001000" y="3387852"/>
            <a:ext cx="384048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 sz="1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95360" y="3337560"/>
            <a:ext cx="2514600" cy="35661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解释结果</a:t>
            </a:r>
            <a:endParaRPr sz="21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955279" y="3831336"/>
            <a:ext cx="3218688" cy="7132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精确匹配与近邻分开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近邻说明偏离了多少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955279" y="4599432"/>
            <a:ext cx="475488" cy="329184"/>
          </a:xfrm>
          <a:prstGeom prst="roundRect">
            <a:avLst>
              <a:gd name="adj" fmla="val 16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8001000" y="4640580"/>
            <a:ext cx="384048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 sz="1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95360" y="4590288"/>
            <a:ext cx="2514600" cy="35661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标记推断</a:t>
            </a:r>
            <a:endParaRPr sz="21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955279" y="5084064"/>
            <a:ext cx="3218688" cy="7132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Fe 余量推算带标记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引用时说明推断来源</a:t>
            </a:r>
            <a:endParaRPr sz="18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应用示例：在样品页核对上下文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03 查询与应用     ·     项目样品页面截图 · 2026-10-23 留档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31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把成分、工艺、性能和证据放在同一查看路径中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0" name="Picture 59" descr="sampl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09" y="1874519"/>
            <a:ext cx="6473324" cy="4242816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8302752" y="2148840"/>
            <a:ext cx="64008" cy="84124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8522208" y="2130552"/>
            <a:ext cx="2514600" cy="37490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看材料</a:t>
            </a:r>
            <a:endParaRPr sz="22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22208" y="2578608"/>
            <a:ext cx="2560320" cy="6400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成分和样品状态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确认是否是目标对象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02752" y="3456432"/>
            <a:ext cx="64008" cy="84124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8522208" y="3438144"/>
            <a:ext cx="2514600" cy="37490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看过程</a:t>
            </a:r>
            <a:endParaRPr sz="22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522208" y="3886200"/>
            <a:ext cx="2560320" cy="6400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工艺步骤与组织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保留实验条件差异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302752" y="4736592"/>
            <a:ext cx="64008" cy="84124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TextBox 67"/>
          <p:cNvSpPr txBox="1"/>
          <p:nvPr/>
        </p:nvSpPr>
        <p:spPr>
          <a:xfrm>
            <a:off x="8522208" y="4718304"/>
            <a:ext cx="2514600" cy="37490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看依据</a:t>
            </a:r>
            <a:endParaRPr sz="22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522208" y="5166359"/>
            <a:ext cx="2560320" cy="6400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性能值附证据入口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弱溯源状态直接标记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证据追踪：从性能值回到论文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04 数据治理     ·     样品抽取文件及 evidence_blocks.json · DOI 10.1002/srin.202400475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32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每条性能值可定位论文，75% 可进一步定位段落或表格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59536" y="1956816"/>
            <a:ext cx="3264408" cy="15270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859536" y="1956816"/>
            <a:ext cx="50292" cy="152704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60704" y="2139696"/>
            <a:ext cx="28620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性能值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60704" y="2715768"/>
            <a:ext cx="2862072" cy="67665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880 ± 19 MPa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铸态 · 屈服强度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ight Arrow 63"/>
          <p:cNvSpPr/>
          <p:nvPr/>
        </p:nvSpPr>
        <p:spPr>
          <a:xfrm>
            <a:off x="4187952" y="2660904"/>
            <a:ext cx="201168" cy="155448"/>
          </a:xfrm>
          <a:prstGeom prst="rightArrow">
            <a:avLst/>
          </a:prstGeom>
          <a:solidFill>
            <a:srgbClr val="22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ounded Rectangle 64"/>
          <p:cNvSpPr/>
          <p:nvPr/>
        </p:nvSpPr>
        <p:spPr>
          <a:xfrm>
            <a:off x="4434840" y="1956816"/>
            <a:ext cx="3264408" cy="15270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Rectangle 65"/>
          <p:cNvSpPr/>
          <p:nvPr/>
        </p:nvSpPr>
        <p:spPr>
          <a:xfrm>
            <a:off x="4434840" y="1956816"/>
            <a:ext cx="50292" cy="152704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636007" y="2139696"/>
            <a:ext cx="28620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字段与证据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636007" y="2715768"/>
            <a:ext cx="2862072" cy="67665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paper_id + sample_id + path</a:t>
            </a:r>
            <a:endParaRPr sz="1500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证据块 b0035 / b0049</a:t>
            </a:r>
            <a:endParaRPr sz="1500"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9" name="Right Arrow 68"/>
          <p:cNvSpPr/>
          <p:nvPr/>
        </p:nvSpPr>
        <p:spPr>
          <a:xfrm>
            <a:off x="7763256" y="2660904"/>
            <a:ext cx="201168" cy="155448"/>
          </a:xfrm>
          <a:prstGeom prst="rightArrow">
            <a:avLst/>
          </a:prstGeom>
          <a:solidFill>
            <a:srgbClr val="225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Rounded Rectangle 69"/>
          <p:cNvSpPr/>
          <p:nvPr/>
        </p:nvSpPr>
        <p:spPr>
          <a:xfrm>
            <a:off x="8010144" y="1956816"/>
            <a:ext cx="3264408" cy="152704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8010144" y="1956816"/>
            <a:ext cx="50292" cy="152704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8211312" y="2139696"/>
            <a:ext cx="28620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原文定位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211312" y="2715768"/>
            <a:ext cx="2862072" cy="67665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正文说明 + 表格行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回到对应论文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77824" y="3749039"/>
            <a:ext cx="6620256" cy="14813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1078992" y="3922776"/>
            <a:ext cx="6181344" cy="23774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原文节选 · b0035</a:t>
            </a:r>
            <a:endParaRPr sz="13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78992" y="4361688"/>
            <a:ext cx="6181344" cy="5943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142B49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“…the yield strength from 880 MPa in the as-cast</a:t>
            </a:r>
            <a:endParaRPr sz="1900" b="0">
              <a:solidFill>
                <a:srgbClr val="142B49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142B49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state to 1041 MPa…”</a:t>
            </a:r>
            <a:endParaRPr sz="1900" b="0">
              <a:solidFill>
                <a:srgbClr val="142B49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927848" y="3776472"/>
            <a:ext cx="3200400" cy="44805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1,133 条 / 75%</a:t>
            </a:r>
            <a:endParaRPr sz="26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927848" y="4315968"/>
            <a:ext cx="3200400" cy="29260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具备段落或表格级证据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927848" y="4809744"/>
            <a:ext cx="3200400" cy="4114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AD6C15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375 条 / 25%</a:t>
            </a:r>
            <a:endParaRPr sz="2400" b="1">
              <a:solidFill>
                <a:srgbClr val="AD6C15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927848" y="5303520"/>
            <a:ext cx="3200400" cy="29260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弱溯源，需回论文核对</a:t>
            </a:r>
            <a:endParaRPr sz="16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2" name="TextBox 81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68,944 条溯源覆盖多类样品字段；75% 的分母是 1,508 条性能值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05840" y="5504688"/>
            <a:ext cx="10222992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100" b="0">
                <a:solidFill>
                  <a:srgbClr val="60718A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path 实例：$.properties[0].mechanical.tensile_properties.yield_strength[0]  →  block_id</a:t>
            </a:r>
            <a:endParaRPr sz="1100" b="0">
              <a:solidFill>
                <a:srgbClr val="60718A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人工校订：重跑后仍然有效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04 数据治理     ·     07_CRUD.md · curate.py / cli.py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33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59" name="Picture 58" descr="03_c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271016"/>
            <a:ext cx="6995159" cy="46634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973568" y="1554480"/>
            <a:ext cx="3246120" cy="4937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3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把修订单独记下来</a:t>
            </a:r>
            <a:endParaRPr sz="23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73568" y="2359152"/>
            <a:ext cx="3236976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可审计</a:t>
            </a:r>
            <a:endParaRPr sz="20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73568" y="2798064"/>
            <a:ext cx="3236976" cy="65836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记录目标、前后值、理由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操作人和时间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973568" y="3465576"/>
            <a:ext cx="3236976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可重放</a:t>
            </a:r>
            <a:endParaRPr sz="20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73568" y="3904487"/>
            <a:ext cx="3236976" cy="65836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重新入库完成后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自动应用有效校订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73568" y="4553712"/>
            <a:ext cx="3236976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0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可撤销</a:t>
            </a:r>
            <a:endParaRPr sz="20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973568" y="4992624"/>
            <a:ext cx="3236976" cy="65836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更新可恢复旧值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撤销删除需重入库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14984" y="6007608"/>
            <a:ext cx="10204704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新增论文走入库流程；增、改、删在可写白名单内进行，修订记录独立保存。</a:t>
            </a:r>
            <a:endParaRPr sz="15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来源管理：区分批次与历史版本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04 数据治理     ·     paper_runs.json · 030_core.sql · ingest.py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34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已具备来源批次追踪，完整历史保留仍需完善入库策略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59536" y="1993392"/>
            <a:ext cx="2496312" cy="1033271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87552" y="2185416"/>
            <a:ext cx="2240280" cy="30175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0915 / pro</a:t>
            </a:r>
            <a:endParaRPr sz="19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7552" y="2633472"/>
            <a:ext cx="2240280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13 篇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520440" y="1993392"/>
            <a:ext cx="2496312" cy="1033271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3648456" y="2185416"/>
            <a:ext cx="2240280" cy="30175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0917 / pro</a:t>
            </a:r>
            <a:endParaRPr sz="19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648456" y="2633472"/>
            <a:ext cx="2240280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4 篇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181344" y="1993392"/>
            <a:ext cx="2496312" cy="1033271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6309359" y="2185416"/>
            <a:ext cx="2240280" cy="30175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0919 / pro</a:t>
            </a:r>
            <a:endParaRPr sz="19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309359" y="2633472"/>
            <a:ext cx="2240280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4 篇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842248" y="1993392"/>
            <a:ext cx="2496312" cy="1033271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8970264" y="2185416"/>
            <a:ext cx="2240280" cy="30175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1009 / flash</a:t>
            </a:r>
            <a:endParaRPr sz="19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970264" y="2633472"/>
            <a:ext cx="2240280" cy="24688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5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47 篇</a:t>
            </a:r>
            <a:endParaRPr sz="15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68680" y="3401568"/>
            <a:ext cx="5047488" cy="194767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Rectangle 72"/>
          <p:cNvSpPr/>
          <p:nvPr/>
        </p:nvSpPr>
        <p:spPr>
          <a:xfrm>
            <a:off x="868680" y="3401568"/>
            <a:ext cx="50292" cy="1947672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1069848" y="3584448"/>
            <a:ext cx="4645151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当前已实现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69848" y="4160520"/>
            <a:ext cx="4645151" cy="10972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run_id 记录抽取来源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校订前后值、理由与操作记录可查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126480" y="3401568"/>
            <a:ext cx="5193792" cy="194767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7" name="Rectangle 76"/>
          <p:cNvSpPr/>
          <p:nvPr/>
        </p:nvSpPr>
        <p:spPr>
          <a:xfrm>
            <a:off x="6126480" y="3401568"/>
            <a:ext cx="50292" cy="1947672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6327648" y="3584448"/>
            <a:ext cx="4791455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下一步补齐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327648" y="4160520"/>
            <a:ext cx="4791455" cy="10972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现有 ETL 按论文整体重建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多模型历史留存与对比尚需实现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4 个来源批次覆盖 68 篇论文，不等同于每篇论文保留了 4 个历史版本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应用出口：页面、接口与研究流程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03 查询与应用     ·     README.md · API 源码 · 检索页截图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35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同一事实底座，支撑人工浏览、程序调用和证据检索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pic>
        <p:nvPicPr>
          <p:cNvPr id="60" name="Picture 59" descr="searc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85" y="1920240"/>
            <a:ext cx="6345820" cy="393192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708392" y="2075688"/>
            <a:ext cx="3474720" cy="4114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10 个页面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708392" y="2596896"/>
            <a:ext cx="3474720" cy="67665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样品、论文、检索、分析与质量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708392" y="3264408"/>
            <a:ext cx="3474720" cy="4114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22 个接口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708392" y="3785615"/>
            <a:ext cx="3474720" cy="67665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为脚本和应用提供结构化数据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708392" y="4453128"/>
            <a:ext cx="3474720" cy="4114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面向 AI 的证据入口</a:t>
            </a:r>
            <a:endParaRPr sz="2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708392" y="4974336"/>
            <a:ext cx="3474720" cy="67665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先检索事实与出处，再组织回答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33271" y="6025896"/>
            <a:ext cx="10131552" cy="23774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400" b="1">
                <a:solidFill>
                  <a:srgbClr val="AD6C15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训练数据专用导出流程尚未完成；证据召回能力不等于已经交付完整问答 Agent。</a:t>
            </a:r>
            <a:endParaRPr sz="1400" b="1">
              <a:solidFill>
                <a:srgbClr val="AD6C15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质量治理：通过检查，也保留问题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04 数据治理     ·     qa_report.md（ingest_id=52） · 06_QUALITY.md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36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工程一致性和证据完整性，用不同指标分别衡量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68680" y="1975104"/>
            <a:ext cx="2487168" cy="133502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005839" y="2176272"/>
            <a:ext cx="2212848" cy="52120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34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</a:t>
            </a:r>
            <a:endParaRPr sz="34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05839" y="2834640"/>
            <a:ext cx="2212848" cy="29260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error 级问题</a:t>
            </a:r>
            <a:endParaRPr sz="13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529584" y="1975104"/>
            <a:ext cx="2487168" cy="133502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3666744" y="2176272"/>
            <a:ext cx="2212848" cy="52120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3400" b="1">
                <a:solidFill>
                  <a:srgbClr val="AD6C15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844</a:t>
            </a:r>
            <a:endParaRPr sz="3400" b="1">
              <a:solidFill>
                <a:srgbClr val="AD6C15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666744" y="2834640"/>
            <a:ext cx="2212848" cy="29260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warn 级问题</a:t>
            </a:r>
            <a:endParaRPr sz="13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190488" y="1975104"/>
            <a:ext cx="2487168" cy="133502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6327648" y="2176272"/>
            <a:ext cx="2212848" cy="52120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34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99.94%</a:t>
            </a:r>
            <a:endParaRPr sz="34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327648" y="2834640"/>
            <a:ext cx="2212848" cy="29260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证据 ID 可解析率</a:t>
            </a:r>
            <a:endParaRPr sz="13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851392" y="1975104"/>
            <a:ext cx="2487168" cy="133502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8988552" y="2176272"/>
            <a:ext cx="2212848" cy="521207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34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95</a:t>
            </a:r>
            <a:endParaRPr sz="34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988552" y="2834640"/>
            <a:ext cx="2212848" cy="29260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3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项测试：文档记录通过</a:t>
            </a:r>
            <a:endParaRPr sz="13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3544" y="3675887"/>
            <a:ext cx="3474720" cy="32918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图观察项缺文字证据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608576" y="3721607"/>
            <a:ext cx="5093208" cy="192024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4" name="Rectangle 73"/>
          <p:cNvSpPr/>
          <p:nvPr/>
        </p:nvSpPr>
        <p:spPr>
          <a:xfrm>
            <a:off x="4608576" y="3721607"/>
            <a:ext cx="4954412" cy="192024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9948672" y="3657599"/>
            <a:ext cx="1078992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821</a:t>
            </a:r>
            <a:endParaRPr sz="18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23544" y="4206240"/>
            <a:ext cx="3474720" cy="32918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证据 ID 未解析告警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608576" y="4251959"/>
            <a:ext cx="5093208" cy="192024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8" name="Rectangle 77"/>
          <p:cNvSpPr/>
          <p:nvPr/>
        </p:nvSpPr>
        <p:spPr>
          <a:xfrm>
            <a:off x="4608576" y="4251959"/>
            <a:ext cx="90519" cy="192024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9948672" y="4187952"/>
            <a:ext cx="1078992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15</a:t>
            </a:r>
            <a:endParaRPr sz="18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23544" y="4736592"/>
            <a:ext cx="3474720" cy="32918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章节字段泄漏告警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608576" y="4782312"/>
            <a:ext cx="5093208" cy="192024"/>
          </a:xfrm>
          <a:prstGeom prst="rect">
            <a:avLst/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2" name="Rectangle 81"/>
          <p:cNvSpPr/>
          <p:nvPr/>
        </p:nvSpPr>
        <p:spPr>
          <a:xfrm>
            <a:off x="4608576" y="4782312"/>
            <a:ext cx="54864" cy="192024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3" name="TextBox 82"/>
          <p:cNvSpPr txBox="1"/>
          <p:nvPr/>
        </p:nvSpPr>
        <p:spPr>
          <a:xfrm>
            <a:off x="9948672" y="4718304"/>
            <a:ext cx="1078992" cy="3200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8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8</a:t>
            </a:r>
            <a:endParaRPr sz="18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 error 表示通过既定工程规则；它不代表文献抽取已经达到 100% 科学准确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数据使用：保留数值背后的含义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04 数据治理     ·     qa_report.md · 06_QUALITY.md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37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保留单位、区间与推断标记，避免“能算”掩盖“不可比”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41248" y="2029968"/>
            <a:ext cx="3346704" cy="319125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841248" y="2029968"/>
            <a:ext cx="50292" cy="3191256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42416" y="2212848"/>
            <a:ext cx="2944368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数值归一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42416" y="2788920"/>
            <a:ext cx="2944368" cy="234086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1,304 / 1,508 条可数值化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原始值与标准化值同时保留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强度按单位归一后比较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398264" y="2029968"/>
            <a:ext cx="3346704" cy="319125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4398264" y="2029968"/>
            <a:ext cx="50292" cy="3191256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4599432" y="2212848"/>
            <a:ext cx="2944368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定性与区间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99432" y="2788920"/>
            <a:ext cx="2944368" cy="234086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172 条为定性描述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区间与误差保留原始表达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不把趋势描述强行补成数字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955280" y="2029968"/>
            <a:ext cx="3346704" cy="319125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7955280" y="2029968"/>
            <a:ext cx="50292" cy="3191256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8156448" y="2212848"/>
            <a:ext cx="2944368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标尺与推断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156448" y="2788920"/>
            <a:ext cx="2944368" cy="234086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硬度查询区分 HV / HRC 等标尺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Fe 余量推算标记 is_inferred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推断值引用时说明来源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另有 174 / 638 个样品缺少结构化性能，需回到上游抽取环节补齐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技术选型：控制当前系统复杂度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02 架构设计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38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PostgreSQL + pgvector，在当前规模内统一核心能力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407408" y="2404872"/>
            <a:ext cx="3364992" cy="1856231"/>
          </a:xfrm>
          <a:prstGeom prst="roundRect">
            <a:avLst>
              <a:gd name="adj" fmla="val 10000"/>
            </a:avLst>
          </a:prstGeom>
          <a:solidFill>
            <a:srgbClr val="10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4572000" y="2779776"/>
            <a:ext cx="3035808" cy="46634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FFFFFF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PostgreSQL</a:t>
            </a:r>
            <a:endParaRPr sz="2900" b="1">
              <a:solidFill>
                <a:srgbClr val="FFFFFF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72000" y="3438144"/>
            <a:ext cx="3035808" cy="36576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FFFFFF"/>
                </a:solidFill>
                <a:latin typeface="微软雅黑" panose="020B0604020202090204"/>
                <a:ea typeface="微软雅黑" panose="020B0604020202090204"/>
                <a:cs typeface="微软雅黑" panose="020B0604020202090204"/>
              </a:rPr>
              <a:t>+ JSONB + pgvector</a:t>
            </a:r>
            <a:endParaRPr sz="1700" b="0">
              <a:solidFill>
                <a:srgbClr val="FFFFFF"/>
              </a:solidFill>
              <a:latin typeface="微软雅黑" panose="020B0604020202090204"/>
              <a:ea typeface="微软雅黑" panose="020B0604020202090204"/>
              <a:cs typeface="微软雅黑" panose="020B060402020209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86968" y="2057400"/>
            <a:ext cx="3035808" cy="1344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4" name="Rectangle 63"/>
          <p:cNvSpPr/>
          <p:nvPr/>
        </p:nvSpPr>
        <p:spPr>
          <a:xfrm>
            <a:off x="886968" y="2057400"/>
            <a:ext cx="50292" cy="134416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1088136" y="2240280"/>
            <a:ext cx="26334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结构化查询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88136" y="2816352"/>
            <a:ext cx="2633472" cy="49377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关系、约束、事务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86968" y="4023360"/>
            <a:ext cx="3035808" cy="1344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8" name="Rectangle 67"/>
          <p:cNvSpPr/>
          <p:nvPr/>
        </p:nvSpPr>
        <p:spPr>
          <a:xfrm>
            <a:off x="886968" y="4023360"/>
            <a:ext cx="50292" cy="134416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1088136" y="4206240"/>
            <a:ext cx="26334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原文保真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88136" y="4782312"/>
            <a:ext cx="2633472" cy="49377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JSONB 与标准列并存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257031" y="2057400"/>
            <a:ext cx="3035808" cy="1344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2" name="Rectangle 71"/>
          <p:cNvSpPr/>
          <p:nvPr/>
        </p:nvSpPr>
        <p:spPr>
          <a:xfrm>
            <a:off x="8257031" y="2057400"/>
            <a:ext cx="50292" cy="134416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8458200" y="2240280"/>
            <a:ext cx="26334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文本检索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458200" y="2816352"/>
            <a:ext cx="2633472" cy="49377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全文 / 分词 / 模糊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8257031" y="4023360"/>
            <a:ext cx="3035808" cy="13441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6" name="Rectangle 75"/>
          <p:cNvSpPr/>
          <p:nvPr/>
        </p:nvSpPr>
        <p:spPr>
          <a:xfrm>
            <a:off x="8257031" y="4023360"/>
            <a:ext cx="50292" cy="1344168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8458200" y="4206240"/>
            <a:ext cx="2633472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语义检索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458200" y="4782312"/>
            <a:ext cx="2633472" cy="493775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向量表示与近邻索引</a:t>
            </a:r>
            <a:endParaRPr sz="17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3922776" y="2734056"/>
            <a:ext cx="484632" cy="246888"/>
          </a:xfrm>
          <a:prstGeom prst="line">
            <a:avLst/>
          </a:prstGeom>
          <a:ln w="19050">
            <a:solidFill>
              <a:srgbClr val="225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922776" y="3813048"/>
            <a:ext cx="484632" cy="877824"/>
          </a:xfrm>
          <a:prstGeom prst="line">
            <a:avLst/>
          </a:prstGeom>
          <a:ln w="19050">
            <a:solidFill>
              <a:srgbClr val="225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72400" y="2734056"/>
            <a:ext cx="484631" cy="246888"/>
          </a:xfrm>
          <a:prstGeom prst="line">
            <a:avLst/>
          </a:prstGeom>
          <a:ln w="19050">
            <a:solidFill>
              <a:srgbClr val="225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72400" y="3813048"/>
            <a:ext cx="484631" cy="877824"/>
          </a:xfrm>
          <a:prstGeom prst="line">
            <a:avLst/>
          </a:prstGeom>
          <a:ln w="19050">
            <a:solidFill>
              <a:srgbClr val="225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4" name="TextBox 83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减少组件间同步与运维成本；未来是否拆分检索，依据容量、延迟和并发实测决定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平台定位：可引用的文献事实底座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03 查询与应用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39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围绕文献中的材料声明，保留实验条件、出处与修订记录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68680" y="2011680"/>
            <a:ext cx="4965192" cy="314553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868680" y="2011680"/>
            <a:ext cx="50292" cy="3145536"/>
          </a:xfrm>
          <a:prstGeom prst="rect">
            <a:avLst/>
          </a:prstGeom>
          <a:solidFill>
            <a:srgbClr val="22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1069848" y="2194560"/>
            <a:ext cx="4562855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的建设重点</a:t>
            </a:r>
            <a:endParaRPr sz="21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69848" y="2770632"/>
            <a:ext cx="4562855" cy="229514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论文里的成分—工艺—组织—性能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具体样品与证据块之间的关联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人工校订与持续质量治理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面向材料研究的条件检索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080760" y="2011680"/>
            <a:ext cx="5239512" cy="3145536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6080760" y="2011680"/>
            <a:ext cx="50292" cy="3145536"/>
          </a:xfrm>
          <a:prstGeom prst="rect">
            <a:avLst/>
          </a:prstGeom>
          <a:solidFill>
            <a:srgbClr val="13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6281928" y="2194560"/>
            <a:ext cx="4837176" cy="43891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1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与外部材料数据形成互补</a:t>
            </a:r>
            <a:endParaRPr sz="21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281928" y="2770632"/>
            <a:ext cx="4837176" cy="2295144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未来可关联 Materials Project 等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计算数据与文献实验数据并列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保留数据类型、方法和来源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跨论文 / 跨库实体对齐需验证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86384" y="57058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EF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941832" y="5797296"/>
            <a:ext cx="10296144" cy="31089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核心价值：把“某篇论文报告了什么”组织成可查询、可复核、可维护的数据</a:t>
            </a:r>
            <a:endParaRPr sz="17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当前边界：走向持续服务还需补齐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05 下一步工作     ·     00_ARCHITECTURE_PLAIN.md §10 · 07_CRUD.md §6 · 源码核对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40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已完成本地数据底座与应用入口，生产化能力需要继续建设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68680" y="2039112"/>
            <a:ext cx="10442448" cy="566928"/>
          </a:xfrm>
          <a:prstGeom prst="rect">
            <a:avLst/>
          </a:prstGeom>
          <a:solidFill>
            <a:srgbClr val="10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87552" y="2148840"/>
            <a:ext cx="2077882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方向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284890" y="2148840"/>
            <a:ext cx="3644249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当前状态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148596" y="2148840"/>
            <a:ext cx="4061947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下一步动作</a:t>
            </a:r>
            <a:endParaRPr sz="16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68680" y="2606040"/>
            <a:ext cx="10442448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987552" y="2715768"/>
            <a:ext cx="2077882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数据服务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84890" y="2715768"/>
            <a:ext cx="3644249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本地资产湖 + 单机部署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148596" y="2715768"/>
            <a:ext cx="4061947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备份恢复演练、权限与账号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68680" y="3172968"/>
            <a:ext cx="10442448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868680" y="3172968"/>
            <a:ext cx="1044244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987552" y="3282696"/>
            <a:ext cx="2077882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协作校订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284890" y="3282696"/>
            <a:ext cx="3644249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日志留痕，修订立即生效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148596" y="3282696"/>
            <a:ext cx="4061947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审批流、冲突检测、操作治理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868680" y="3739896"/>
            <a:ext cx="10442448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868680" y="3739896"/>
            <a:ext cx="10442448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987552" y="3849624"/>
            <a:ext cx="2077882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历史版本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284890" y="3849624"/>
            <a:ext cx="3644249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来源批次可追踪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48596" y="3849624"/>
            <a:ext cx="4061947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保留历史事实、开展多模型对比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78" name="Connector 77"/>
          <p:cNvCxnSpPr/>
          <p:nvPr/>
        </p:nvCxnSpPr>
        <p:spPr>
          <a:xfrm>
            <a:off x="868680" y="4306824"/>
            <a:ext cx="10442448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68680" y="4306824"/>
            <a:ext cx="1044244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0" name="TextBox 79"/>
          <p:cNvSpPr txBox="1"/>
          <p:nvPr/>
        </p:nvSpPr>
        <p:spPr>
          <a:xfrm>
            <a:off x="987552" y="4416552"/>
            <a:ext cx="2077882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下游应用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284890" y="4416552"/>
            <a:ext cx="3644249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检索与 API 可用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148596" y="4416552"/>
            <a:ext cx="4061947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训练数据导出、跨库关联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868680" y="4873752"/>
            <a:ext cx="10442448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868680" y="4873752"/>
            <a:ext cx="10442448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987552" y="4983480"/>
            <a:ext cx="2077882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规模扩展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284890" y="4983480"/>
            <a:ext cx="3644249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5,099 条检索文档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48596" y="4983480"/>
            <a:ext cx="4061947" cy="411479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700" b="0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先做容量与延迟评估，再决定拆分</a:t>
            </a:r>
            <a:endParaRPr sz="1700" b="0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868680" y="5440679"/>
            <a:ext cx="10442448" cy="0"/>
          </a:xfrm>
          <a:prstGeom prst="line">
            <a:avLst/>
          </a:prstGeom>
          <a:ln w="7620">
            <a:solidFill>
              <a:srgbClr val="D8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87552" y="5824728"/>
            <a:ext cx="10177272" cy="35661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600" b="1">
                <a:solidFill>
                  <a:srgbClr val="AD6C15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本页区分“已交付”与“待建设”；规模推算与生产成熟度不作超前承诺。</a:t>
            </a:r>
            <a:endParaRPr sz="1600" b="1">
              <a:solidFill>
                <a:srgbClr val="AD6C15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10"/>
          <p:cNvSpPr/>
          <p:nvPr/>
        </p:nvSpPr>
        <p:spPr>
          <a:xfrm>
            <a:off x="518795" y="1061085"/>
            <a:ext cx="11122660" cy="5344795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14300" dist="38100" dir="5400000" algn="ctr" rotWithShape="0">
              <a:srgbClr val="111827">
                <a:alpha val="6750"/>
              </a:srgbClr>
            </a:outerShdw>
          </a:effectLst>
        </p:spPr>
        <p:txBody>
          <a:bodyPr/>
          <a:p>
            <a:pPr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pic>
        <p:nvPicPr>
          <p:cNvPr id="55" name="Picture 54" descr="template_2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1521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4944" y="265176"/>
            <a:ext cx="6519672" cy="594360"/>
          </a:xfrm>
          <a:prstGeom prst="rect">
            <a:avLst/>
          </a:prstGeom>
          <a:noFill/>
        </p:spPr>
        <p:txBody>
          <a:bodyPr wrap="none" lIns="13716" tIns="0" rIns="13716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600" b="1">
                <a:solidFill>
                  <a:srgbClr val="142B49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下一步：从可用走向持续可信</a:t>
            </a:r>
            <a:endParaRPr sz="2600" b="1">
              <a:solidFill>
                <a:srgbClr val="142B49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31520" y="6547104"/>
            <a:ext cx="8503920" cy="18288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85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STEELDIG  /  05 下一步工作     ·     架构说明书（白话版） · 2026-10-23 文档快照</a:t>
            </a:r>
            <a:endParaRPr sz="85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0192" y="6510528"/>
            <a:ext cx="777240" cy="25603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2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41</a:t>
            </a:r>
            <a:endParaRPr sz="12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04672" y="1261872"/>
            <a:ext cx="10561320" cy="50292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围绕质量、治理和应用，推进三组后续工作</a:t>
            </a:r>
            <a:endParaRPr sz="24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59536" y="2029968"/>
            <a:ext cx="3319272" cy="267919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069848" y="2231136"/>
            <a:ext cx="2907792" cy="4937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01</a:t>
            </a:r>
            <a:endParaRPr sz="29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69848" y="2935224"/>
            <a:ext cx="2907792" cy="39319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补齐数据质量</a:t>
            </a:r>
            <a:endParaRPr sz="22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69848" y="3621024"/>
            <a:ext cx="2907792" cy="7772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补抽缺失性能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完善证据与单位标记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407408" y="2029968"/>
            <a:ext cx="3319272" cy="267919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4617720" y="2231136"/>
            <a:ext cx="2907792" cy="4937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138B8D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02</a:t>
            </a:r>
            <a:endParaRPr sz="2900" b="1">
              <a:solidFill>
                <a:srgbClr val="138B8D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617720" y="2935224"/>
            <a:ext cx="2907792" cy="39319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完善治理能力</a:t>
            </a:r>
            <a:endParaRPr sz="22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617720" y="3621024"/>
            <a:ext cx="2907792" cy="7772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历史保留与模型对比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审批、权限、恢复演练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955279" y="2029968"/>
            <a:ext cx="3319272" cy="267919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889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69" name="TextBox 68"/>
          <p:cNvSpPr txBox="1"/>
          <p:nvPr/>
        </p:nvSpPr>
        <p:spPr>
          <a:xfrm>
            <a:off x="8165592" y="2231136"/>
            <a:ext cx="2907792" cy="493776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900" b="1">
                <a:solidFill>
                  <a:srgbClr val="225AB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03</a:t>
            </a:r>
            <a:endParaRPr sz="2900" b="1">
              <a:solidFill>
                <a:srgbClr val="225AB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165592" y="2935224"/>
            <a:ext cx="2907792" cy="393192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200" b="1">
                <a:solidFill>
                  <a:srgbClr val="103B7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打通研究应用</a:t>
            </a:r>
            <a:endParaRPr sz="2200" b="1">
              <a:solidFill>
                <a:srgbClr val="103B7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165592" y="3621024"/>
            <a:ext cx="2907792" cy="777240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训练数据规范化导出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1900" b="0">
                <a:solidFill>
                  <a:srgbClr val="5A6D84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跨论文与外部数据关联</a:t>
            </a:r>
            <a:endParaRPr sz="1900" b="0">
              <a:solidFill>
                <a:srgbClr val="5A6D84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77824" y="5138928"/>
            <a:ext cx="10433304" cy="850392"/>
          </a:xfrm>
          <a:prstGeom prst="roundRect">
            <a:avLst>
              <a:gd name="adj" fmla="val 10000"/>
            </a:avLst>
          </a:prstGeom>
          <a:solidFill>
            <a:srgbClr val="103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1051560" y="5376672"/>
            <a:ext cx="10085832" cy="429768"/>
          </a:xfrm>
          <a:prstGeom prst="rect">
            <a:avLst/>
          </a:prstGeom>
          <a:noFill/>
        </p:spPr>
        <p:txBody>
          <a:bodyPr wrap="square" lIns="13716" tIns="0" rIns="13716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>
                <a:latin typeface="微软雅黑" panose="020B0604020202090204"/>
                <a:ea typeface="微软雅黑" panose="020B0604020202090204"/>
                <a:cs typeface="微软雅黑" panose="020B0604020202090204"/>
              </a:defRPr>
            </a:pPr>
            <a:r>
              <a:rPr sz="2400" b="1">
                <a:solidFill>
                  <a:srgbClr val="FFFFFF"/>
                </a:solidFill>
                <a:latin typeface="微软雅黑" panose="020B0604020202020204" charset="-122"/>
                <a:ea typeface="微软雅黑" panose="020B0604020202020204" charset="-122"/>
                <a:cs typeface="微软雅黑" panose="020B0604020202090204"/>
              </a:rPr>
              <a:t>让文献数据能查、能改、能审，成为材料研究可持续使用的底座</a:t>
            </a:r>
            <a:endParaRPr sz="2400" b="1">
              <a:solidFill>
                <a:srgbClr val="FFFFFF"/>
              </a:solidFill>
              <a:latin typeface="微软雅黑" panose="020B0604020202020204" charset="-122"/>
              <a:ea typeface="微软雅黑" panose="020B0604020202020204" charset="-122"/>
              <a:cs typeface="微软雅黑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11393</Words>
  <Application>WPS 演示</Application>
  <PresentationFormat/>
  <Paragraphs>1420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杨子江(2025211061)</cp:lastModifiedBy>
  <cp:revision>14</cp:revision>
  <dcterms:created xsi:type="dcterms:W3CDTF">2026-10-26T08:32:56Z</dcterms:created>
  <dcterms:modified xsi:type="dcterms:W3CDTF">2026-10-26T08:32:56Z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3ABD4BA62C0EB4768E1EDC6A868C2548_43</vt:lpwstr>
  </property>
</Properties>
</file>